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Séquence 3 : Gestion d'une campagne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 la théorie à la pratique : Notions clés et exemples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5A : Méthodes de Gestion de Projets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C'est l'application de méthodes structurées (Agile, Cycle en V) pour piloter une campagne de bout en bout.</a:t>
            </a:r>
          </a:p>
          <a:p>
            <a:pPr lvl="1"/>
            <a:r>
              <a:t>Pourquoi c'est important :</a:t>
            </a:r>
          </a:p>
          <a:p>
            <a:pPr lvl="2"/>
            <a:r>
              <a:t>Permet de respecter les délais, maîtriser les risques et coordonner les équipes de manière fluide.</a:t>
            </a:r>
          </a:p>
          <a:p>
            <a:pPr lvl="1"/>
            <a:r>
              <a:t>Exemple :</a:t>
            </a:r>
          </a:p>
          <a:p>
            <a:pPr lvl="2"/>
            <a:r>
              <a:t>Utiliser la méthode 'Agile' pour lancer une campagne pub : on teste une petite annonce, on analyse, on adapte, plutôt que de tout planifier à l'avance sans flexibilité.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5B : Le Budget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L'enveloppe financière allouée pour atteindre les objectifs. Il inclut les coûts publicitaires (Média), la création, et les outils.</a:t>
            </a:r>
          </a:p>
          <a:p>
            <a:pPr lvl="1"/>
            <a:r>
              <a:t>Notions Clés :</a:t>
            </a:r>
          </a:p>
          <a:p>
            <a:pPr lvl="2"/>
            <a:r>
              <a:t>Coût d'Acquisition Client (CAC), Retour sur Investissement (ROI).</a:t>
            </a:r>
          </a:p>
          <a:p>
            <a:pPr lvl="1"/>
            <a:r>
              <a:t>Exemple :</a:t>
            </a:r>
          </a:p>
          <a:p>
            <a:pPr lvl="2"/>
            <a:r>
              <a:t>Pour un budget de 5 000 € : 3 000 € pour la publicité Instagram, 1 500 € pour les créations graphiques (graphiste freelance), et 500 € pour un outil d'emailing.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5C : Le Planning (Rétroplanning)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Un calendrier inversé qui part de la date de lancement prévue pour déduire les dates limites de chaque tâche (Diagramme de Gantt).</a:t>
            </a:r>
          </a:p>
          <a:p>
            <a:pPr lvl="1"/>
            <a:r>
              <a:t>Pourquoi c'est important :</a:t>
            </a:r>
          </a:p>
          <a:p>
            <a:pPr lvl="2"/>
            <a:r>
              <a:t>Évite les retards de dernière minute et s'assure que les dépendances (ex: on ne peut pas lancer la pub si la vidéo n'est pas montée) sont gérées.</a:t>
            </a:r>
          </a:p>
          <a:p>
            <a:pPr lvl="1"/>
            <a:r>
              <a:t>Exemple :</a:t>
            </a:r>
          </a:p>
          <a:p>
            <a:pPr lvl="2"/>
            <a:r>
              <a:t>Lancement le 1er Décembre (J-0). J-15 : Finaliser les visuels. J-30 : Valider le concept. J-45 : Définir le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6A &amp; 6B : L'Équipe et ses Métiers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Une campagne réussie repose sur une collaboration entre différents experts travaillant ensemble (organisation transversale).</a:t>
            </a:r>
          </a:p>
          <a:p>
            <a:pPr lvl="1"/>
            <a:r>
              <a:t>Les Métiers Clés :</a:t>
            </a:r>
          </a:p>
          <a:p>
            <a:pPr lvl="2"/>
            <a:r>
              <a:t>Chef de Projet, Social Media Manager, Copywriter (Rédacteur), Graphiste, Data Analyst, Traffic Manager.</a:t>
            </a:r>
          </a:p>
          <a:p>
            <a:pPr lvl="1"/>
            <a:r>
              <a:t>Exemple :</a:t>
            </a:r>
          </a:p>
          <a:p>
            <a:pPr lvl="2"/>
            <a:r>
              <a:t>Le Copywriter écrit le texte de la publicité, le Graphiste crée l'image, et le Traffic Manager la diffuse sur Facebook 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6C : La Répartition des Tâches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L'attribution claire des responsabilités pour éviter les doublons ou les oublis (souvent via une Matrice RACI : Qui Fait, Qui Valide, Qui est Informé).</a:t>
            </a:r>
          </a:p>
          <a:p>
            <a:pPr lvl="1"/>
            <a:r>
              <a:t>Notion Clé :</a:t>
            </a:r>
          </a:p>
          <a:p>
            <a:pPr lvl="2"/>
            <a:r>
              <a:t>La Matrice RACI (Responsible, Accountable, Consulted, Informed).</a:t>
            </a:r>
          </a:p>
          <a:p>
            <a:pPr lvl="1"/>
            <a:r>
              <a:t>Exemple de répartition :</a:t>
            </a:r>
          </a:p>
          <a:p>
            <a:pPr lvl="2"/>
            <a:r>
              <a:t>Tâche 'Validation de l'email' : Le Community Manager rédige (Fait), le Directeur Marketing valide (Valide), le service client est prévenu du lancement (Informé).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7A : Le Plan d'Action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C'est la feuille de route stratégique détaillant QUI fait QUOI, COMMENT et OÙ (canaux de diffusion).</a:t>
            </a:r>
          </a:p>
          <a:p>
            <a:pPr lvl="1"/>
            <a:r>
              <a:t>Pourquoi c'est important :</a:t>
            </a:r>
          </a:p>
          <a:p>
            <a:pPr lvl="2"/>
            <a:r>
              <a:t>Passe de la stratégie à l'opérationnel. Il structure l'exécution de la campagne.</a:t>
            </a:r>
          </a:p>
          <a:p>
            <a:pPr lvl="1"/>
            <a:r>
              <a:t>Exemple :</a:t>
            </a:r>
          </a:p>
          <a:p>
            <a:pPr lvl="2"/>
            <a:r>
              <a:t>Notre plan d'action : 1. Campagne d'acquisition sur LinkedIn (B2B) + 2. Relance par Email (Newsletter) + 3. Article de blog SEO.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7B : Les Indicateurs de Suivi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Les KPI (Key Performance Indicators) sont des métriques chiffrées qui permettent de mesurer le succès d'une campagne par rapport aux objectifs.</a:t>
            </a:r>
          </a:p>
          <a:p>
            <a:pPr lvl="1"/>
            <a:r>
              <a:t>Notions Clés :</a:t>
            </a:r>
          </a:p>
          <a:p>
            <a:pPr lvl="2"/>
            <a:r>
              <a:t>Taux de clic (CTR), Taux de conversion, Coût par Clic (CPC), Chiffre d'Affaires généré.</a:t>
            </a:r>
          </a:p>
          <a:p>
            <a:pPr lvl="1"/>
            <a:r>
              <a:t>Exemple :</a:t>
            </a:r>
          </a:p>
          <a:p>
            <a:pPr lvl="2"/>
            <a:r>
              <a:t>L'objectif n'est pas 'Avoir beaucoup de j'aime', mais 'Générer 50 prospects qualifiés à un coût maximum de 10€ par prospect'.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7C : Le Tableau de Bord (Dashboard)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Un outil visuel centralisant tous les KPIs en temps réel pour piloter la campagne et prendre des décisions rapides.</a:t>
            </a:r>
          </a:p>
          <a:p>
            <a:pPr lvl="1"/>
            <a:r>
              <a:t>Pourquoi c'est important :</a:t>
            </a:r>
          </a:p>
          <a:p>
            <a:pPr lvl="2"/>
            <a:r>
              <a:t>Permet d'ajuster le tir en direct si on voit qu'une publicité ne fonctionne pas.</a:t>
            </a:r>
          </a:p>
          <a:p>
            <a:pPr lvl="1"/>
            <a:r>
              <a:t>Exemple :</a:t>
            </a:r>
          </a:p>
          <a:p>
            <a:pPr lvl="2"/>
            <a:r>
              <a:t>Un écran Looker Studio ou un fichier Excel qui montre chaque jour : Dépenses du jour, Ventes du jour, et ROI actuel.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 synthèse, gérer une campagne de A à Z implique de maîtriser :</a:t>
            </a:r>
          </a:p>
          <a:p>
            <a:pPr lvl="1"/>
            <a:r>
              <a:t>1. Les Ressources (C5) : Structurer un budget cohérent et un planning rigoureux.</a:t>
            </a:r>
          </a:p>
          <a:p>
            <a:pPr lvl="1"/>
            <a:r>
              <a:t>2. L'Humain (C6) : Savoir s'entourer des bons métiers et répartir les responsabilités.</a:t>
            </a:r>
          </a:p>
          <a:p>
            <a:pPr lvl="1"/>
            <a:r>
              <a:t>3. Le Résultat (C7) : Avoir un plan d'action clair, mesurable en direct via des KPIs et un tableau de bord.</a:t>
            </a:r>
          </a:p>
          <a:p>
            <a:r>
              <a:t>=&gt; Le secret du marketing moderne n'est pas l'improvisation, mais l'organisation méthodique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