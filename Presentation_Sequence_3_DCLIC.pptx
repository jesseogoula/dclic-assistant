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31520"/>
            <a:ext cx="2926080" cy="98531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097280" y="2011680"/>
            <a:ext cx="4114800" cy="365760"/>
          </a:xfrm>
          <a:prstGeom prst="round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🎯 FORMATION EN MARKETING NUMÉRIQUE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Séquence 3 : Gestion d'une Campagne Marketing</a:t>
            </a:r>
          </a:p>
          <a:p>
            <a:pPr>
              <a:spcBef>
                <a:spcPts val="1200"/>
              </a:spcBef>
              <a:defRPr sz="1800">
                <a:solidFill>
                  <a:srgbClr val="C8DCF5"/>
                </a:solidFill>
                <a:latin typeface="Segoe UI"/>
              </a:defRPr>
            </a:pPr>
            <a:r>
              <a:t>Méthodes Agiles • Diagramme de Gantt • Pilotage des Indicateurs (KPI)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754880"/>
            <a:ext cx="10058400" cy="1371600"/>
          </a:xfrm>
          <a:prstGeom prst="roundRect">
            <a:avLst/>
          </a:prstGeom>
          <a:solidFill>
            <a:srgbClr val="244B73"/>
          </a:solidFill>
          <a:ln w="19050">
            <a:solidFill>
              <a:srgbClr val="E8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👨‍🏫 Tuteur référent : Jesse Adirigno OGOULA</a:t>
            </a:r>
          </a:p>
          <a:p>
            <a:pPr>
              <a:spcBef>
                <a:spcPts val="600"/>
              </a:spcBef>
              <a:defRPr sz="1200">
                <a:solidFill>
                  <a:srgbClr val="DCEBFA"/>
                </a:solidFill>
                <a:latin typeface="Segoe UI"/>
              </a:defRPr>
            </a:pPr>
            <a:r>
              <a:t>📅 Session d'Accompagnement en Direct  |  Cohorte Groupe 1  |  Session Juillet 2026</a:t>
            </a:r>
          </a:p>
          <a:p>
            <a:pPr>
              <a:spcBef>
                <a:spcPts val="600"/>
              </a:spcBef>
              <a:defRPr sz="1100">
                <a:solidFill>
                  <a:srgbClr val="E8912D"/>
                </a:solidFill>
                <a:latin typeface="Segoe UI"/>
              </a:defRPr>
            </a:pPr>
            <a:r>
              <a:t>💡 Rappel : Micro coupé à l'arrivée • Activez vos caméras • Posez vos questions dans le chat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Ordre du Jour &amp; Objectifs de la Séance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2/9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11480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749039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A5C"/>
                </a:solidFill>
                <a:latin typeface="Segoe UI"/>
              </a:defRPr>
            </a:pPr>
            <a:r>
              <a:t>🎯 OBJECTIFS PÉDAGOGIQUES</a:t>
            </a:r>
          </a:p>
          <a:p>
            <a:pPr>
              <a:spcBef>
                <a:spcPts val="12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• Comprendre les méthodes de projet</a:t>
            </a:r>
          </a:p>
          <a:p>
            <a:pPr>
              <a:spcBef>
                <a:spcPts val="200"/>
              </a:spcBef>
              <a:defRPr sz="1050">
                <a:solidFill>
                  <a:srgbClr val="5A6A7A"/>
                </a:solidFill>
                <a:latin typeface="Segoe UI"/>
              </a:defRPr>
            </a:pPr>
            <a:r>
              <a:t>Identifier la différence entre approche traditionnelle (Cascade) et Agilité en marketing.</a:t>
            </a:r>
          </a:p>
          <a:p>
            <a:pPr>
              <a:spcBef>
                <a:spcPts val="12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• Maîtriser le rétroplanning</a:t>
            </a:r>
          </a:p>
          <a:p>
            <a:pPr>
              <a:spcBef>
                <a:spcPts val="200"/>
              </a:spcBef>
              <a:defRPr sz="1050">
                <a:solidFill>
                  <a:srgbClr val="5A6A7A"/>
                </a:solidFill>
                <a:latin typeface="Segoe UI"/>
              </a:defRPr>
            </a:pPr>
            <a:r>
              <a:t>Savoir découper un projet en tâches, jalons et concevoir un Diagramme de Gantt.</a:t>
            </a:r>
          </a:p>
          <a:p>
            <a:pPr>
              <a:spcBef>
                <a:spcPts val="12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• Piloter avec des KPI précis</a:t>
            </a:r>
          </a:p>
          <a:p>
            <a:pPr>
              <a:spcBef>
                <a:spcPts val="200"/>
              </a:spcBef>
              <a:defRPr sz="1050">
                <a:solidFill>
                  <a:srgbClr val="5A6A7A"/>
                </a:solidFill>
                <a:latin typeface="Segoe UI"/>
              </a:defRPr>
            </a:pPr>
            <a:r>
              <a:t>Calculer et interpréter le CPC, CPA, CTR, ROAS pour mesurer la rentabilité d'une campagne.</a:t>
            </a:r>
          </a:p>
          <a:p>
            <a:pPr>
              <a:spcBef>
                <a:spcPts val="1200"/>
              </a:spcBef>
              <a:defRPr sz="1200" b="1">
                <a:solidFill>
                  <a:srgbClr val="2C3E50"/>
                </a:solidFill>
                <a:latin typeface="Segoe UI"/>
              </a:defRPr>
            </a:pPr>
            <a:r>
              <a:t>• Consolider les modules M5-M6</a:t>
            </a:r>
          </a:p>
          <a:p>
            <a:pPr>
              <a:spcBef>
                <a:spcPts val="200"/>
              </a:spcBef>
              <a:defRPr sz="1050">
                <a:solidFill>
                  <a:srgbClr val="5A6A7A"/>
                </a:solidFill>
                <a:latin typeface="Segoe UI"/>
              </a:defRPr>
            </a:pPr>
            <a:r>
              <a:t>Lever tous les blocages techniques et méthodologiques.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463040"/>
            <a:ext cx="6309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03520" y="1645920"/>
            <a:ext cx="685800" cy="685800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57276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3A5C"/>
                </a:solidFill>
                <a:latin typeface="Segoe UI"/>
              </a:defRPr>
            </a:pPr>
            <a:r>
              <a:t>Icebreaker &amp; Bilan de la Semaine  (00:00 - 00:15)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Sondage interactif, point d'étape sur la promotion et retours d'expérience.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2651760"/>
            <a:ext cx="6309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03520" y="2834640"/>
            <a:ext cx="685800" cy="685800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76148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3A5C"/>
                </a:solidFill>
                <a:latin typeface="Segoe UI"/>
              </a:defRPr>
            </a:pPr>
            <a:r>
              <a:t>Exposés &amp; Peer-Learning  (00:15 - 00:35)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Présentations pratiques par les apprenants volontaires sur les 3 thématiques clés.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3840480"/>
            <a:ext cx="6309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03520" y="4023360"/>
            <a:ext cx="685800" cy="685800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95020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3A5C"/>
                </a:solidFill>
                <a:latin typeface="Segoe UI"/>
              </a:defRPr>
            </a:pPr>
            <a:r>
              <a:t>Atelier Live : Gantt &amp; Calcul des KPI  (00:35 - 00:55)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Démo pratique d'un rétroplanning et analyse chiffrée d'une campagne.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5029200"/>
            <a:ext cx="630936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303520" y="5212080"/>
            <a:ext cx="685800" cy="685800"/>
          </a:xfrm>
          <a:prstGeom prst="ellipse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138928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1A3A5C"/>
                </a:solidFill>
                <a:latin typeface="Segoe UI"/>
              </a:defRPr>
            </a:pPr>
            <a:r>
              <a:t>Session Q&amp;A &amp; Plan d'Action  (00:55 - 01:15)</a:t>
            </a:r>
          </a:p>
          <a:p>
            <a:pPr>
              <a:spcBef>
                <a:spcPts val="3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Foire aux questions ouverte, levée des doutes et prochaines étapes.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Icebreaker Interactif &amp; Point de Cohorte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3/9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E8912D"/>
                </a:solidFill>
                <a:latin typeface="Segoe UI"/>
              </a:defRPr>
            </a:pPr>
            <a:r>
              <a:t>⚡ ICEBREAKER (Sondage Slido / Chat)</a:t>
            </a:r>
          </a:p>
          <a:p>
            <a:pPr>
              <a:spcBef>
                <a:spcPts val="1400"/>
              </a:spcBef>
              <a:defRPr sz="1150" b="1">
                <a:solidFill>
                  <a:srgbClr val="1A3A5C"/>
                </a:solidFill>
                <a:latin typeface="Segoe UI"/>
              </a:defRPr>
            </a:pPr>
            <a:r>
              <a:t>❓ Question 1 : Quel est votre plus grand défi quand vous gérez un projet ?</a:t>
            </a:r>
          </a:p>
          <a:p>
            <a:pPr>
              <a:spcBef>
                <a:spcPts val="300"/>
              </a:spcBef>
              <a:defRPr sz="1050">
                <a:solidFill>
                  <a:srgbClr val="2C3E50"/>
                </a:solidFill>
              </a:defRPr>
            </a:pPr>
            <a:r>
              <a:t>   A) Le manque de temps et d'organisation</a:t>
            </a:r>
          </a:p>
          <a:p>
            <a:pPr>
              <a:spcBef>
                <a:spcPts val="300"/>
              </a:spcBef>
              <a:defRPr sz="1050">
                <a:solidFill>
                  <a:srgbClr val="2C3E50"/>
                </a:solidFill>
              </a:defRPr>
            </a:pPr>
            <a:r>
              <a:t>   B) Le respect des délais (deadlines)</a:t>
            </a:r>
          </a:p>
          <a:p>
            <a:pPr>
              <a:spcBef>
                <a:spcPts val="300"/>
              </a:spcBef>
              <a:defRPr sz="1050">
                <a:solidFill>
                  <a:srgbClr val="2C3E50"/>
                </a:solidFill>
              </a:defRPr>
            </a:pPr>
            <a:r>
              <a:t>   C) La coordination de l'équipe</a:t>
            </a:r>
          </a:p>
          <a:p>
            <a:pPr>
              <a:spcBef>
                <a:spcPts val="300"/>
              </a:spcBef>
              <a:defRPr sz="1050">
                <a:solidFill>
                  <a:srgbClr val="2C3E50"/>
                </a:solidFill>
              </a:defRPr>
            </a:pPr>
            <a:r>
              <a:t>   D) La mesure concrète des résultats</a:t>
            </a:r>
          </a:p>
          <a:p>
            <a:pPr>
              <a:spcBef>
                <a:spcPts val="1400"/>
              </a:spcBef>
              <a:defRPr sz="1150" b="1">
                <a:solidFill>
                  <a:srgbClr val="1A3A5C"/>
                </a:solidFill>
              </a:defRPr>
            </a:pPr>
            <a:r>
              <a:t>❓ Question 2 (À main levée / Chat) :</a:t>
            </a:r>
          </a:p>
          <a:p>
            <a:pPr>
              <a:spcBef>
                <a:spcPts val="300"/>
              </a:spcBef>
              <a:defRPr sz="1050">
                <a:solidFill>
                  <a:srgbClr val="2C3E50"/>
                </a:solidFill>
              </a:defRPr>
            </a:pPr>
            <a:r>
              <a:t>« Avez-vous déjà utilisé un diagramme de Gantt ou un outil comme Trello / Asana ?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A5C"/>
                </a:solidFill>
                <a:latin typeface="Segoe UI"/>
              </a:defRPr>
            </a:pPr>
            <a:r>
              <a:t>📊 POINT SUR LE RYTHME &amp; LA MOTIVATION</a:t>
            </a:r>
          </a:p>
          <a:p>
            <a:pPr>
              <a:spcBef>
                <a:spcPts val="1200"/>
              </a:spcBef>
              <a:defRPr sz="1150" b="1">
                <a:solidFill>
                  <a:srgbClr val="2C3E50"/>
                </a:solidFill>
                <a:latin typeface="Segoe UI"/>
              </a:defRPr>
            </a:pPr>
            <a:r>
              <a:t>💡 Ne restez pas bloqués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La Séquence 3 est souvent perçue comme la plus dense. Il est normal de trouver les notions de gestion de projet plus abstraites au départ.</a:t>
            </a:r>
          </a:p>
          <a:p>
            <a:pPr>
              <a:spcBef>
                <a:spcPts val="1200"/>
              </a:spcBef>
              <a:defRPr sz="1150" b="1">
                <a:solidFill>
                  <a:srgbClr val="2C3E50"/>
                </a:solidFill>
                <a:latin typeface="Segoe UI"/>
              </a:defRPr>
            </a:pPr>
            <a:r>
              <a:t>💡 La règle des 15-20 minutes / jour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Ne cherchez pas à tout faire en une seule soirée le week-end. Une régularité quotidienne est le secret pour ne jamais décrocher.</a:t>
            </a:r>
          </a:p>
          <a:p>
            <a:pPr>
              <a:spcBef>
                <a:spcPts val="1200"/>
              </a:spcBef>
              <a:defRPr sz="1150" b="1">
                <a:solidFill>
                  <a:srgbClr val="2C3E50"/>
                </a:solidFill>
                <a:latin typeface="Segoe UI"/>
              </a:defRPr>
            </a:pPr>
            <a:r>
              <a:t>💡 L'esprit d'équipe D-CLIC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  <a:latin typeface="Segoe UI"/>
              </a:defRPr>
            </a:pPr>
            <a:r>
              <a:t>Profitez du groupe WhatsApp et des sessions directes pour poser TOUTES vos questions. Il n'y a aucune question bête 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Méthodes de Gestion de Projet en Marketing Digital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4/9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83280" cy="8229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Approche Traditionnelle (Cascade)</a:t>
            </a:r>
          </a:p>
          <a:p>
            <a:pPr algn="ctr">
              <a:defRPr sz="950">
                <a:solidFill>
                  <a:srgbClr val="F0F0F0"/>
                </a:solidFill>
              </a:defRPr>
            </a:pPr>
            <a:r>
              <a:t>Séquentielle &amp; Linéaire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C3E50"/>
                </a:solidFill>
                <a:latin typeface="Segoe UI"/>
              </a:defRPr>
            </a:pPr>
            <a:r>
              <a:t>• Planification rigide de A à Z avant de lancer.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Chaque étape doit être terminée avant de passer à la suivante (Conception ➔ Production ➔ Diffusion).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⚠️ Limite : Peu flexible en cas d'imprévu ou de changement d'algorithme.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822960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Méthodologie Agile (Scrum)</a:t>
            </a:r>
          </a:p>
          <a:p>
            <a:pPr algn="ctr">
              <a:defRPr sz="950">
                <a:solidFill>
                  <a:srgbClr val="F0F0F0"/>
                </a:solidFill>
              </a:defRPr>
            </a:pPr>
            <a:r>
              <a:t>Itérative &amp; Flexible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C3E50"/>
                </a:solidFill>
                <a:latin typeface="Segoe UI"/>
              </a:defRPr>
            </a:pPr>
            <a:r>
              <a:t>• Travail par cycles courts (Sprints de 1 à 2 semaines).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Ajustement continu basé sur les données réelles et les retours d'audience.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✅ Idéal pour le marketing digital, les campagnes Ads et les tests A/B.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383280" cy="82296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Méthode Kanban</a:t>
            </a:r>
          </a:p>
          <a:p>
            <a:pPr algn="ctr">
              <a:defRPr sz="950">
                <a:solidFill>
                  <a:srgbClr val="F0F0F0"/>
                </a:solidFill>
              </a:defRPr>
            </a:pPr>
            <a:r>
              <a:t>Visuelle &amp; en Flux Continu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23160"/>
            <a:ext cx="3017520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50">
                <a:solidFill>
                  <a:srgbClr val="2C3E50"/>
                </a:solidFill>
                <a:latin typeface="Segoe UI"/>
              </a:defRPr>
            </a:pPr>
            <a:r>
              <a:t>• Visualisation des tâches en colonnes : À faire ➔ En cours ➔ Terminé.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Limitation du travail en cours pour éviter la surcharge.</a:t>
            </a:r>
          </a:p>
          <a:p>
            <a:pPr>
              <a:spcBef>
                <a:spcPts val="1200"/>
              </a:spcBef>
              <a:defRPr sz="1050">
                <a:solidFill>
                  <a:srgbClr val="2C3E50"/>
                </a:solidFill>
                <a:latin typeface="Segoe UI"/>
              </a:defRPr>
            </a:pPr>
            <a:r>
              <a:t>• ✅ Parfait pour la production de contenus et le community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Le Cycle de Vie d'une Campagne Marketing Réussie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5/9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256032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645920"/>
            <a:ext cx="2194560" cy="365760"/>
          </a:xfrm>
          <a:prstGeom prst="round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 : Cadrage &amp; Stratégie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2286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2C3E50"/>
                </a:solidFill>
                <a:latin typeface="Segoe UI"/>
              </a:defRPr>
            </a:pPr>
            <a:r>
              <a:t>✔ Définition des objectifs SMART (Spécifique, Mesurable, Atteignable, Réaliste, Temporel).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Identification du Persona cible (besoins, freins, canaux privilégiés).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Fixation du budget global et de la proposition de valeur.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56032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645920"/>
            <a:ext cx="2194560" cy="36576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 : Conception &amp; Création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148840"/>
            <a:ext cx="2286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2C3E50"/>
                </a:solidFill>
                <a:latin typeface="Segoe UI"/>
              </a:defRPr>
            </a:pPr>
            <a:r>
              <a:t>✔ Élaboration du calendrier éditorial et du rétroplanning (Gantt).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Création des assets : visuels Canva, copies publicitaires, landing pages.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Configuration du tracking (Pixel Meta, Google Analytics UTM).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63040"/>
            <a:ext cx="256032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194560" cy="365760"/>
          </a:xfrm>
          <a:prstGeom prst="round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 : Lancement &amp; Diffusion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48840"/>
            <a:ext cx="2286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2C3E50"/>
                </a:solidFill>
                <a:latin typeface="Segoe UI"/>
              </a:defRPr>
            </a:pPr>
            <a:r>
              <a:t>✔ Mise en ligne des campagnes sur les canaux choisis (SEO, Meta Ads, Google Ads, Emailing).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Surveillance en direct des premiers retours et modération des commentaires.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A/B Testing des annonces et visuels les plus performants.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56032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0" y="1645920"/>
            <a:ext cx="2194560" cy="3657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4 : Analyse &amp; Optimisation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148840"/>
            <a:ext cx="228600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2C3E50"/>
                </a:solidFill>
                <a:latin typeface="Segoe UI"/>
              </a:defRPr>
            </a:pPr>
            <a:r>
              <a:t>✔ Suivi des KPI clés : Coût d'acquisition, Taux de conversion, ROAS.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Réallocation du budget vers les canaux les plus rentables.</a:t>
            </a:r>
          </a:p>
          <a:p>
            <a:pPr>
              <a:spcBef>
                <a:spcPts val="1000"/>
              </a:spcBef>
              <a:defRPr sz="950">
                <a:solidFill>
                  <a:srgbClr val="2C3E50"/>
                </a:solidFill>
                <a:latin typeface="Segoe UI"/>
              </a:defRPr>
            </a:pPr>
            <a:r>
              <a:t>✔ Rédaction du rapport de bilan et capitalisation des apprentissages.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Atelier Pratique : Piloter avec le Diagramme de Gantt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6/9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438912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02336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A3A5C"/>
                </a:solidFill>
                <a:latin typeface="Segoe UI"/>
              </a:defRPr>
            </a:pPr>
            <a:r>
              <a:t>📌 LES 4 COMPOSANTS CLÉS DU GANTT</a:t>
            </a:r>
          </a:p>
          <a:p>
            <a:pPr>
              <a:spcBef>
                <a:spcPts val="800"/>
              </a:spcBef>
              <a:defRPr sz="1100" b="1">
                <a:solidFill>
                  <a:srgbClr val="2C3E50"/>
                </a:solidFill>
              </a:defRPr>
            </a:pPr>
            <a:r>
              <a:t>• Les Tâches &amp; Activités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Actions précises et concrètes à mener (ex: rédiger les 5 posts, configurer la campagne Facebook).</a:t>
            </a:r>
          </a:p>
          <a:p>
            <a:pPr>
              <a:spcBef>
                <a:spcPts val="800"/>
              </a:spcBef>
              <a:defRPr sz="1100" b="1">
                <a:solidFill>
                  <a:srgbClr val="2C3E50"/>
                </a:solidFill>
              </a:defRPr>
            </a:pPr>
            <a:r>
              <a:t>• Les Jalons (Milestones)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Dates clés / points d'étape sans durée marquant la fin d'une phase (ex: validation du budget, lancement officiel).</a:t>
            </a:r>
          </a:p>
          <a:p>
            <a:pPr>
              <a:spcBef>
                <a:spcPts val="800"/>
              </a:spcBef>
              <a:defRPr sz="1100" b="1">
                <a:solidFill>
                  <a:srgbClr val="2C3E50"/>
                </a:solidFill>
              </a:defRPr>
            </a:pPr>
            <a:r>
              <a:t>• Les Dépendances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Tâches qui ne peuvent démarrer qu'une fois la précédente achevée (ex: impossible de lancer les Ads sans les visuels validés).</a:t>
            </a:r>
          </a:p>
          <a:p>
            <a:pPr>
              <a:spcBef>
                <a:spcPts val="800"/>
              </a:spcBef>
              <a:defRPr sz="1100" b="1">
                <a:solidFill>
                  <a:srgbClr val="2C3E50"/>
                </a:solidFill>
              </a:defRPr>
            </a:pPr>
            <a:r>
              <a:t>• Les Responsables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Attribution claire : qui fait quoi pour éviter les retards.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463040"/>
            <a:ext cx="603504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8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691640"/>
            <a:ext cx="5486400" cy="4206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E8912D"/>
                </a:solidFill>
                <a:latin typeface="Segoe UI"/>
              </a:defRPr>
            </a:pPr>
            <a:r>
              <a:t>🛠️ EXEMPLE : RÉTROPLANNING SUR 4 SEMAINES</a:t>
            </a:r>
          </a:p>
          <a:p>
            <a:pPr>
              <a:spcBef>
                <a:spcPts val="800"/>
              </a:spcBef>
              <a:defRPr sz="1100" b="1">
                <a:solidFill>
                  <a:srgbClr val="1A3A5C"/>
                </a:solidFill>
              </a:defRPr>
            </a:pPr>
            <a:r>
              <a:t>🗓️ Semaine 1 :</a:t>
            </a:r>
          </a:p>
          <a:p>
            <a:pPr>
              <a:spcBef>
                <a:spcPts val="200"/>
              </a:spcBef>
              <a:defRPr sz="1000">
                <a:solidFill>
                  <a:srgbClr val="2C3E50"/>
                </a:solidFill>
              </a:defRPr>
            </a:pPr>
            <a:r>
              <a:t>Brief client, personas, objectifs SMART et répartition budgétaire.</a:t>
            </a:r>
          </a:p>
          <a:p>
            <a:pPr>
              <a:spcBef>
                <a:spcPts val="800"/>
              </a:spcBef>
              <a:defRPr sz="1100" b="1">
                <a:solidFill>
                  <a:srgbClr val="1A3A5C"/>
                </a:solidFill>
              </a:defRPr>
            </a:pPr>
            <a:r>
              <a:t>🗓️ Semaine 2 :</a:t>
            </a:r>
          </a:p>
          <a:p>
            <a:pPr>
              <a:spcBef>
                <a:spcPts val="200"/>
              </a:spcBef>
              <a:defRPr sz="1000">
                <a:solidFill>
                  <a:srgbClr val="2C3E50"/>
                </a:solidFill>
              </a:defRPr>
            </a:pPr>
            <a:r>
              <a:t>Rédaction des copies, création des bannières Canva &amp; paramétrage Ads.</a:t>
            </a:r>
          </a:p>
          <a:p>
            <a:pPr>
              <a:spcBef>
                <a:spcPts val="800"/>
              </a:spcBef>
              <a:defRPr sz="1100" b="1">
                <a:solidFill>
                  <a:srgbClr val="1A3A5C"/>
                </a:solidFill>
              </a:defRPr>
            </a:pPr>
            <a:r>
              <a:t>🗓️ Semaine 3 :</a:t>
            </a:r>
          </a:p>
          <a:p>
            <a:pPr>
              <a:spcBef>
                <a:spcPts val="200"/>
              </a:spcBef>
              <a:defRPr sz="1000">
                <a:solidFill>
                  <a:srgbClr val="2C3E50"/>
                </a:solidFill>
              </a:defRPr>
            </a:pPr>
            <a:r>
              <a:t>🚀 JALON : Lancement officiel de la campagne &amp; A/B testing quotidien.</a:t>
            </a:r>
          </a:p>
          <a:p>
            <a:pPr>
              <a:spcBef>
                <a:spcPts val="800"/>
              </a:spcBef>
              <a:defRPr sz="1100" b="1">
                <a:solidFill>
                  <a:srgbClr val="1A3A5C"/>
                </a:solidFill>
              </a:defRPr>
            </a:pPr>
            <a:r>
              <a:t>🗓️ Semaine 4 :</a:t>
            </a:r>
          </a:p>
          <a:p>
            <a:pPr>
              <a:spcBef>
                <a:spcPts val="200"/>
              </a:spcBef>
              <a:defRPr sz="1000">
                <a:solidFill>
                  <a:srgbClr val="2C3E50"/>
                </a:solidFill>
              </a:defRPr>
            </a:pPr>
            <a:r>
              <a:t>Clôture de la diffusion, extraction des métriques &amp; rapport d'analyse.</a:t>
            </a:r>
          </a:p>
          <a:p>
            <a:pPr>
              <a:spcBef>
                <a:spcPts val="1400"/>
              </a:spcBef>
              <a:defRPr sz="1000" b="1">
                <a:solidFill>
                  <a:srgbClr val="0D9488"/>
                </a:solidFill>
              </a:defRPr>
            </a:pPr>
            <a:r>
              <a:t>💡 Outils recommandés : Google Sheets, Trello, Asana, Monday, ClickUp, Notion.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Mesurer l'Efficacité : Les KPI Clés d'une Campagne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7/9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463040"/>
            <a:ext cx="338328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1. Notoriété &amp; Visibilité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3E50"/>
                </a:solidFill>
              </a:defRPr>
            </a:pPr>
            <a:r>
              <a:t>📈 Portée (Reach)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Nombre unique de personnes ayant vu la publication.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Impressions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Nombre total d'affichages du message.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Coût pour Mille (CPM)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Coût pour 1 000 affichages publicitaires.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89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594360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2. Engagement &amp; Trafic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3E50"/>
                </a:solidFill>
              </a:defRPr>
            </a:pPr>
            <a:r>
              <a:t>📈 Taux de Clic (CTR)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(Clics / Impressions) × 100 — Mesure l'attractivité du message.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Coût par Clic (CPC)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Budget dépensé / Nombre de clics obtenus.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Taux d'Engagement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(Interactions / Portée) × 100.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463040"/>
            <a:ext cx="338328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63040"/>
            <a:ext cx="3383280" cy="5943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</a:defRPr>
            </a:pPr>
            <a:r>
              <a:t>3. Conversion &amp; Rentabilité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C3E50"/>
                </a:solidFill>
              </a:defRPr>
            </a:pPr>
            <a:r>
              <a:t>📈 Taux de Conversion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(Ventes ou Leads / Clics) × 100.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Coût par Acquisition (CPA)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Budget dépensé / Nombre de clients acquis.</a:t>
            </a:r>
          </a:p>
          <a:p>
            <a:pPr>
              <a:spcBef>
                <a:spcPts val="1000"/>
              </a:spcBef>
              <a:defRPr sz="1100" b="1">
                <a:solidFill>
                  <a:srgbClr val="2C3E50"/>
                </a:solidFill>
              </a:defRPr>
            </a:pPr>
            <a:r>
              <a:t>📈 ROAS (Return On Ad Spend)</a:t>
            </a:r>
          </a:p>
          <a:p>
            <a:pPr>
              <a:spcBef>
                <a:spcPts val="200"/>
              </a:spcBef>
              <a:defRPr sz="950">
                <a:solidFill>
                  <a:srgbClr val="5A6A7A"/>
                </a:solidFill>
              </a:defRPr>
            </a:pPr>
            <a:r>
              <a:t>(Chiffre d'affaires généré / Budget Ads) × 100.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Session Questions / Réponses &amp; Entraide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8/9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1463040"/>
            <a:ext cx="9448495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737360"/>
            <a:ext cx="8686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A3A5C"/>
                </a:solidFill>
                <a:latin typeface="Segoe UI"/>
              </a:defRPr>
            </a:pPr>
            <a:r>
              <a:t>💬 LA PAROLE EST À VOUS !</a:t>
            </a:r>
          </a:p>
          <a:p>
            <a:pPr>
              <a:spcBef>
                <a:spcPts val="14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👉 Questions sur les cours M5 &amp; M6</a:t>
            </a:r>
          </a:p>
          <a:p>
            <a:pPr>
              <a:spcBef>
                <a:spcPts val="300"/>
              </a:spcBef>
              <a:defRPr sz="1100">
                <a:solidFill>
                  <a:srgbClr val="5A6A7A"/>
                </a:solidFill>
                <a:latin typeface="Segoe UI"/>
              </a:defRPr>
            </a:pPr>
            <a:r>
              <a:t>     Des incompréhensions sur les modules, les quiz ou les méthodes de calcul ?</a:t>
            </a:r>
          </a:p>
          <a:p>
            <a:pPr>
              <a:spcBef>
                <a:spcPts val="14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👉 Difficultés d'accès ou d'organisation</a:t>
            </a:r>
          </a:p>
          <a:p>
            <a:pPr>
              <a:spcBef>
                <a:spcPts val="300"/>
              </a:spcBef>
              <a:defRPr sz="1100">
                <a:solidFill>
                  <a:srgbClr val="5A6A7A"/>
                </a:solidFill>
                <a:latin typeface="Segoe UI"/>
              </a:defRPr>
            </a:pPr>
            <a:r>
              <a:t>     Besoin d'aide pour rattraper le retard ou aménager votre temps de travail quotidien ?</a:t>
            </a:r>
          </a:p>
          <a:p>
            <a:pPr>
              <a:spcBef>
                <a:spcPts val="1400"/>
              </a:spcBef>
              <a:defRPr sz="1300" b="1">
                <a:solidFill>
                  <a:srgbClr val="2C3E50"/>
                </a:solidFill>
                <a:latin typeface="Segoe UI"/>
              </a:defRPr>
            </a:pPr>
            <a:r>
              <a:t>👉 Partage d'expériences pratiques</a:t>
            </a:r>
          </a:p>
          <a:p>
            <a:pPr>
              <a:spcBef>
                <a:spcPts val="300"/>
              </a:spcBef>
              <a:defRPr sz="1100">
                <a:solidFill>
                  <a:srgbClr val="5A6A7A"/>
                </a:solidFill>
                <a:latin typeface="Segoe UI"/>
              </a:defRPr>
            </a:pPr>
            <a:r>
              <a:t>     Comment appliquez-vous ces notions dans votre activité professionnelle ou vos projets personnels ?</a:t>
            </a:r>
          </a:p>
          <a:p>
            <a:pPr>
              <a:spcBef>
                <a:spcPts val="1800"/>
              </a:spcBef>
              <a:defRPr sz="1200" b="1">
                <a:solidFill>
                  <a:srgbClr val="E8912D"/>
                </a:solidFill>
              </a:defRPr>
            </a:pPr>
            <a:r>
              <a:t>🎤 Levez la main pour prendre la parole au micro ou écrivez directement dans le chat 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E8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8912D"/>
                </a:solidFill>
                <a:latin typeface="Segoe UI"/>
              </a:defRPr>
            </a:pPr>
            <a:r>
              <a:t>D-CLIC • MARKETING NUMÉRIQUE • 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"/>
            <a:ext cx="86868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Plan d'Action &amp; Prochaines Échéances</a:t>
            </a:r>
          </a:p>
        </p:txBody>
      </p:sp>
      <p:pic>
        <p:nvPicPr>
          <p:cNvPr id="6" name="Picture 5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164592"/>
            <a:ext cx="1463040" cy="49265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>
                <a:solidFill>
                  <a:srgbClr val="5A6A7A"/>
                </a:solidFill>
                <a:latin typeface="Segoe UI"/>
              </a:defRPr>
            </a:pPr>
            <a:r>
              <a:t>Projet D-CLIC (OIF) — Session Juillet 2026 | Tuteur : Jesse Adirigno Ogoula                       Diapositive 9/9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63040"/>
            <a:ext cx="512064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572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D9488"/>
                </a:solidFill>
                <a:latin typeface="Segoe UI"/>
              </a:defRPr>
            </a:pPr>
            <a:r>
              <a:t>✅ VOTRE TO-DO LIST DE LA SEMAINE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☑ Finaliser la Séquence 3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Compléter et valider les modules M5 et M6 sur la plateforme.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☑ Pratiquer sur un outil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Créer un premier tableau Kanban sur Trello ou un rétroplanning sur Google Sheets.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☑ Rattraper les éventuels retards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Prendre 15 min/jour pour valider les activités restantes des Séquences 1 &amp; 2.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☑ Rester actif sur WhatsApp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Partager vos questions et aider vos pairs.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4663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46634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3A5C"/>
                </a:solidFill>
                <a:latin typeface="Segoe UI"/>
              </a:defRPr>
            </a:pPr>
            <a:r>
              <a:t>🤝 VOTRE TUTEUR RESTE À VOTRE ÉCOUTE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📱 Groupe WhatsApp Promotion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Pour les échanges collectifs quotidiens et les partages de ressources.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📱 Message Privé / Mail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Pour les difficultés individuelles, blocages ou réajustement de rythme.</a:t>
            </a:r>
          </a:p>
          <a:p>
            <a:pPr>
              <a:spcBef>
                <a:spcPts val="1000"/>
              </a:spcBef>
              <a:defRPr sz="1150" b="1">
                <a:solidFill>
                  <a:srgbClr val="2C3E50"/>
                </a:solidFill>
              </a:defRPr>
            </a:pPr>
            <a:r>
              <a:t>📱 Prochaine Visio d'Accompagnement</a:t>
            </a:r>
          </a:p>
          <a:p>
            <a:pPr>
              <a:spcBef>
                <a:spcPts val="200"/>
              </a:spcBef>
              <a:defRPr sz="1000">
                <a:solidFill>
                  <a:srgbClr val="5A6A7A"/>
                </a:solidFill>
              </a:defRPr>
            </a:pPr>
            <a:r>
              <a:t>Consultez le planning et l'invitation Google Calendar transmise par mail.</a:t>
            </a:r>
          </a:p>
          <a:p>
            <a:pPr>
              <a:spcBef>
                <a:spcPts val="1400"/>
              </a:spcBef>
              <a:defRPr sz="1050" b="1">
                <a:solidFill>
                  <a:srgbClr val="E8912D"/>
                </a:solidFill>
              </a:defRPr>
            </a:pPr>
            <a:r>
              <a:t>✨ « Le succès n'est que la somme de petits efforts répétés jour après jour. » Bon travail à tous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