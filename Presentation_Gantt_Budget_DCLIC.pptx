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ACCUEIL (00:00 - 05:00)</a:t>
            </a:r>
          </a:p>
          <a:p>
            <a:r>
              <a:t>Accueillir chaleureusement les apprenants dès leur connexion. Vérifier que tout le monde entend bien. Annoncer le thème de la soirée : maîtriser le Gantt et le budget, pour transformer le Projet Professionnel en réussite concrète.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CONTEXTE &amp; ENJEUX (05:00 - 10:00)</a:t>
            </a:r>
          </a:p>
          <a:p>
            <a:r>
              <a:t>Expliquer pourquoi la gestion de projet est ce qui distingue l'amateur du professionnel. Faire le lien explicite avec le Livrable 1 qu'ils viennent de terminer et le Livrable 2 qui arrive. Rassurer le groupe : tout le monde va y arriver avec la méthode pas-à-pas.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SOMMAIRE (10:00 - 12:00)</a:t>
            </a:r>
          </a:p>
          <a:p>
            <a:r>
              <a:t>Présenter le menu de la séance. Annoncer le rythme : interactif avec des questions dans le chat et un cas pratique concret chiffré à la fin.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ICEBREAKER (12:00 - 18:00)</a:t>
            </a:r>
          </a:p>
          <a:p>
            <a:r>
              <a:t>Donner 30 secondes aux apprenants pour taper A, B ou C dans le chat. Lire les réponses à voix haute avec humour et bienveillance. Expliquer que la majorité des gens commencent en A ou B, mais que le monde professionnel exige de basculer vers C : le Gantt.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DÉFINITION GANTT (18:00 - 23:00)</a:t>
            </a:r>
          </a:p>
          <a:p>
            <a:r>
              <a:t>Définir le Gantt avec clarté. Souligner la différence avec une simple To-Do List : une to-do list dit ce qu'il faut faire, mais elle ignore complètement le temps, les dépendances et la charge.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VOCABULAIRE 1 (23:00 - 28:00)</a:t>
            </a:r>
          </a:p>
          <a:p>
            <a:r>
              <a:t>Insister particulièrement sur la distinction Charge vs Durée. 80% des apprenants font l'erreur d'inscrire 2 heures sur le Gantt alors qu'il faut 3 jours calendaires pour que la tâche soit bouclée avec les validations. Expliquer le rôle du Jalon : durée 0, losange.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VOCABULAIRE 2 (28:00 - 33:00)</a:t>
            </a:r>
          </a:p>
          <a:p>
            <a:r>
              <a:t>Expliquer l'image du domino pour les dépendances. Pour le chemin critique, faire l'analogie de la maison : si la fondation a du retard, le toit aura du retard. Mais si peindre la clôture a du retard, on peut quand même emménager.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STRUCTURER SA PENSÉE (33:00 - 38:00)</a:t>
            </a:r>
          </a:p>
          <a:p>
            <a:r>
              <a:t>Insister sur le piège des apprenants qui ouvrent Canva ou Excel et commencent à tracer des barres au hasard. Leur faire répéter : 'D'abord le WBS, ensuite le Gantt'. Faire le lien avec les actions d'acquisition/rétention du PP1.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LES 4 PHASES (38:00 - 43:00)</a:t>
            </a:r>
          </a:p>
          <a:p>
            <a:r>
              <a:t>Présenter cette structure universelle. Quel que soit leur projet pour le PP2 (boutique e-commerce, média Francotechno, application mobile, agence locale), leur Gantt doit comporter ces 4 grandes phases chronologiques.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CALIBRER LES TÂCHES (43:00 - 48:00)</a:t>
            </a:r>
          </a:p>
          <a:p>
            <a:r>
              <a:t>Donner l'astuce de la formule : [Verbe d'action] + [Objet précis] + [Critère d'achèvement]. Expliquer que les tuteurs vérifient que les tâches ne sont ni trop floues ni microscopiques.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ORDONNANCEMENT (48:00 - 53:00)</a:t>
            </a:r>
          </a:p>
          <a:p>
            <a:r>
              <a:t>Montrer comment le tableau des antécédents prépare directement le Gantt. Souligner le gain de temps obtenu grâce aux tâches en parallèle (ex : le flyer et le tournage peuvent se faire en parallèle après validation des scripts).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ESTIMATION DURÉES (53:00 - 58:00)</a:t>
            </a:r>
          </a:p>
          <a:p>
            <a:r>
              <a:t>Partager ces lois psychologiques de la gestion de projet. Insister sur le délai d'approbation publicitaire de Meta ou Google : une pub rejetée peut bloquer tout le planning si aucune marge n'a été prévue.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RESSOURCES HUMAINES (58:00 - 63:00)</a:t>
            </a:r>
          </a:p>
          <a:p>
            <a:r>
              <a:t>Faire le lien avec le critère 3 de la grille PP2 : 'Pertinence des RH identifiées'. Montrer que rattacher chaque tâche à un profil métier précis garantit 1 point plein sur la grille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MARIAGE GANTT &amp; BUDGET (63:00 - 68:00)</a:t>
            </a:r>
          </a:p>
          <a:p>
            <a:r>
              <a:t>Expliquer cette liaison intime. Le budget n'est pas un document séparé qu'on invente dans un coin ; c'est la valorisation financière directe des barres de votre diagramme de Gantt.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TYPOLOGIE DES COÛTS (68:00 - 73:00)</a:t>
            </a:r>
          </a:p>
          <a:p>
            <a:r>
              <a:t>Détailler ces 4 familles. Mettre en garde : beaucoup d'apprenants n'incluent QUE le budget Facebook Ads et oublient le coût de production des visuels, ou l'inverse. Insister sur les 10 à 15% de marge pour imprévus (critère tuteur PP2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BUDGET PAR TÂCHE (73:00 - 77:00)</a:t>
            </a:r>
          </a:p>
          <a:p>
            <a:r>
              <a:t>Montrer aux apprenants la clarté d'un tableau à double entrée. Le tuteur voit instantanément que pour la tâche T4, il y a 80 000 FCFA d'honoraires et 450 000 FCFA d'achat média direct sur Meta. Rigueur exemplaire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TRÉSORERIE &amp; CASH-FLOW (77:00 - 81:00)</a:t>
            </a:r>
          </a:p>
          <a:p>
            <a:r>
              <a:t>Expliquer l'angoisse du chef de projet qui arrive en semaine 4 sans argent pour payer les pubs parce qu'il a tout payé d'avance aux créatifs. Le plan de décaissement est la marque des gestionnaires d'élite.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CAS PRATIQUE (81:00 - 86:00)</a:t>
            </a:r>
          </a:p>
          <a:p>
            <a:r>
              <a:t>Ce cas pratique modélise exactement ce qui est attendu pour le Livrable PP2. Attirer l'attention des apprenants sur les 250 000 FCFA de réserve d'imprévus et le jalon de validation en fin de S3.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GRILLE D'ÉVALUATION (86:00 - 90:00)</a:t>
            </a:r>
          </a:p>
          <a:p>
            <a:r>
              <a:t>Lire la grille attentivement. Expliquer aux apprenants que le tuteur ne note pas 'au feeling', mais selon ces 6 points précis. S'ils suivent les recommandations de cette slide, ils ont 6/6 garanti.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ERREURS ÉLIMINATOIRES (90:00 - 94:00)</a:t>
            </a:r>
          </a:p>
          <a:p>
            <a:r>
              <a:t>Passer en revue ces 5 pièges avec insistance. Dire aux apprenants : 'Avant de cliquer sur Envoyer pour votre devoir, faites cette checklist des 5 erreurs'.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CHOIX DES OUTILS (94:00 - 98:00)</a:t>
            </a:r>
          </a:p>
          <a:p>
            <a:r>
              <a:t>Rassurer les apprenants : pas besoin d'être un génie de l'informatique. Un Google Sheets propre avec des cellules colorées pour les semaines et une colonne SOMME pour le budget suffit largement pour avoir 6/6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CONCLUSION &amp; Q&amp;A (98:00 - 105:00)</a:t>
            </a:r>
          </a:p>
          <a:p>
            <a:r>
              <a:t>Ouvrir la session de questions/réponses. Répondre avec patience et bienveillance. Rappeler la date limite de dépôt du livrable d'entraînement. Remercier chaleureusement tous les participants.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jpg"/>
          <p:cNvPicPr>
            <a:picLocks noChangeAspect="1"/>
          </p:cNvPicPr>
          <p:nvPr/>
        </p:nvPicPr>
        <p:blipFill>
          <a:blip r:embed="rId2"/>
          <a:stretch>
            <a:fillRect/>
          </a:stretch>
        </p:blipFill>
        <p:spPr>
          <a:xfrm>
            <a:off x="1097280" y="640080"/>
            <a:ext cx="2926080" cy="985313"/>
          </a:xfrm>
          <a:prstGeom prst="rect">
            <a:avLst/>
          </a:prstGeom>
        </p:spPr>
      </p:pic>
      <p:sp>
        <p:nvSpPr>
          <p:cNvPr id="5" name="Rounded Rectangle 4"/>
          <p:cNvSpPr/>
          <p:nvPr/>
        </p:nvSpPr>
        <p:spPr>
          <a:xfrm>
            <a:off x="1097280" y="1828800"/>
            <a:ext cx="4389120" cy="384048"/>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FORMATION D-CLIC (OIF) • SÉQUENCE 3 &amp; PP2</a:t>
            </a:r>
          </a:p>
        </p:txBody>
      </p:sp>
      <p:sp>
        <p:nvSpPr>
          <p:cNvPr id="6" name="TextBox 5"/>
          <p:cNvSpPr txBox="1"/>
          <p:nvPr/>
        </p:nvSpPr>
        <p:spPr>
          <a:xfrm>
            <a:off x="1097280" y="2377440"/>
            <a:ext cx="10058400" cy="2011680"/>
          </a:xfrm>
          <a:prstGeom prst="rect">
            <a:avLst/>
          </a:prstGeom>
          <a:noFill/>
        </p:spPr>
        <p:txBody>
          <a:bodyPr wrap="square">
            <a:spAutoFit/>
          </a:bodyPr>
          <a:lstStyle/>
          <a:p>
            <a:pPr>
              <a:defRPr sz="3600" b="1">
                <a:solidFill>
                  <a:srgbClr val="FFFFFF"/>
                </a:solidFill>
                <a:latin typeface="Segoe UI"/>
              </a:defRPr>
            </a:pPr>
            <a:r>
              <a:t>Maîtriser le Diagramme de Gantt</a:t>
            </a:r>
            <a:br/>
            <a:r>
              <a:t>&amp; le Budget de Projet</a:t>
            </a:r>
          </a:p>
          <a:p>
            <a:pPr>
              <a:spcBef>
                <a:spcPts val="1000"/>
              </a:spcBef>
              <a:defRPr sz="1800">
                <a:solidFill>
                  <a:srgbClr val="CDE1FA"/>
                </a:solidFill>
                <a:latin typeface="Segoe UI"/>
              </a:defRPr>
            </a:pPr>
            <a:r>
              <a:t>De la stratégie marketing au pilotage opérationnel : Structurer son temps, ses ressources et son budget</a:t>
            </a:r>
          </a:p>
        </p:txBody>
      </p:sp>
      <p:sp>
        <p:nvSpPr>
          <p:cNvPr id="7" name="Rounded Rectangle 6"/>
          <p:cNvSpPr/>
          <p:nvPr/>
        </p:nvSpPr>
        <p:spPr>
          <a:xfrm>
            <a:off x="1097280" y="4663440"/>
            <a:ext cx="10058400" cy="1463040"/>
          </a:xfrm>
          <a:prstGeom prst="roundRect">
            <a:avLst/>
          </a:prstGeom>
          <a:solidFill>
            <a:srgbClr val="244B73"/>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ctr">
              <a:defRPr sz="1500" b="1">
                <a:solidFill>
                  <a:srgbClr val="FFFFFF"/>
                </a:solidFill>
                <a:latin typeface="Segoe UI"/>
              </a:defRPr>
            </a:pPr>
            <a:r>
              <a:t>👨‍🏫 Tuteur Référent : Jesse Adirigno OGOULA</a:t>
            </a:r>
          </a:p>
          <a:p>
            <a:pPr>
              <a:spcBef>
                <a:spcPts val="600"/>
              </a:spcBef>
              <a:defRPr sz="1300">
                <a:solidFill>
                  <a:srgbClr val="DCEBFF"/>
                </a:solidFill>
                <a:latin typeface="Segoe UI"/>
              </a:defRPr>
            </a:pPr>
            <a:r>
              <a:t>📅 Visioconférence Thématique Interactive | Durée : 1h30 | Objectif : Réussir le Livrable PP2 (/6 pts)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Pourquoi cette session est le tournant de votre formation ?</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2/22</a:t>
            </a:r>
          </a:p>
        </p:txBody>
      </p:sp>
      <p:sp>
        <p:nvSpPr>
          <p:cNvPr id="8" name="Rounded Rectangle 7"/>
          <p:cNvSpPr/>
          <p:nvPr/>
        </p:nvSpPr>
        <p:spPr>
          <a:xfrm>
            <a:off x="731520" y="1371600"/>
            <a:ext cx="32918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1A3A5C"/>
                </a:solidFill>
              </a:defRPr>
            </a:pPr>
            <a:r>
              <a:t>🌉 Le Pont Indispensable</a:t>
            </a:r>
          </a:p>
          <a:p>
            <a:pPr>
              <a:spcBef>
                <a:spcPts val="1200"/>
              </a:spcBef>
              <a:defRPr sz="1300">
                <a:solidFill>
                  <a:srgbClr val="2C3E50"/>
                </a:solidFill>
              </a:defRPr>
            </a:pPr>
            <a:r>
              <a:t>• Une idée sans calendrier reste un souhait.</a:t>
            </a:r>
            <a:br/>
            <a:r>
              <a:t>• Vous avez conçu une belle stratégie marketing en PP1 (Personas, USP, Canaux).</a:t>
            </a:r>
            <a:br/>
            <a:r>
              <a:t>• Le Gantt et le Budget sont le moteur qui transforme cette vision en réalité terrain.</a:t>
            </a:r>
          </a:p>
        </p:txBody>
      </p:sp>
      <p:sp>
        <p:nvSpPr>
          <p:cNvPr id="9" name="Rounded Rectangle 8"/>
          <p:cNvSpPr/>
          <p:nvPr/>
        </p:nvSpPr>
        <p:spPr>
          <a:xfrm>
            <a:off x="4449470" y="1371600"/>
            <a:ext cx="329184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E8912D"/>
                </a:solidFill>
              </a:defRPr>
            </a:pPr>
            <a:r>
              <a:t>🎯 L'Enjeu du Livrable PP2</a:t>
            </a:r>
          </a:p>
          <a:p>
            <a:pPr>
              <a:spcBef>
                <a:spcPts val="1200"/>
              </a:spcBef>
              <a:defRPr sz="1300">
                <a:solidFill>
                  <a:srgbClr val="2C3E50"/>
                </a:solidFill>
              </a:defRPr>
            </a:pPr>
            <a:r>
              <a:t>• Le Livrable 2 compte pour 6 points sur 20 dans votre note finale D-CLIC (30% du projet !).</a:t>
            </a:r>
            <a:br/>
            <a:r>
              <a:t>• Consigne officielle : remettre un planning Gantt et un budget par tâches réaliste.</a:t>
            </a:r>
            <a:br/>
            <a:r>
              <a:t>• Les tuteurs attendent de la rigueur opérationnelle, pas de l'improvisation.</a:t>
            </a:r>
          </a:p>
        </p:txBody>
      </p:sp>
      <p:sp>
        <p:nvSpPr>
          <p:cNvPr id="10" name="Rounded Rectangle 9"/>
          <p:cNvSpPr/>
          <p:nvPr/>
        </p:nvSpPr>
        <p:spPr>
          <a:xfrm>
            <a:off x="8168335" y="1371600"/>
            <a:ext cx="32918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0D9488"/>
                </a:solidFill>
              </a:defRPr>
            </a:pPr>
            <a:r>
              <a:t>💼 La Compétence Métier</a:t>
            </a:r>
          </a:p>
          <a:p>
            <a:pPr>
              <a:spcBef>
                <a:spcPts val="1200"/>
              </a:spcBef>
              <a:defRPr sz="1300">
                <a:solidFill>
                  <a:srgbClr val="2C3E50"/>
                </a:solidFill>
              </a:defRPr>
            </a:pPr>
            <a:r>
              <a:t>• En entreprise ou en freelance, un client ou une direction demande toujours 2 choses :</a:t>
            </a:r>
            <a:br/>
            <a:r>
              <a:t>  1. « Quand est-ce que c'est prêt ? »</a:t>
            </a:r>
            <a:br/>
            <a:r>
              <a:t>  2. « Combien ça va coûter ? »</a:t>
            </a:r>
            <a:br/>
            <a:r>
              <a:t>• Ce soir, vous apprenez à répondre à ces deux questions avec précision chirurgicale.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Le Parcours de la Soirée : 5 Escales Méthodologiques</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3/22</a:t>
            </a:r>
          </a:p>
        </p:txBody>
      </p:sp>
      <p:sp>
        <p:nvSpPr>
          <p:cNvPr id="8" name="Rounded Rectangle 7"/>
          <p:cNvSpPr/>
          <p:nvPr/>
        </p:nvSpPr>
        <p:spPr>
          <a:xfrm>
            <a:off x="731520" y="1371600"/>
            <a:ext cx="10728655" cy="84124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517904"/>
            <a:ext cx="1645920" cy="54864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Escale 1</a:t>
            </a:r>
          </a:p>
        </p:txBody>
      </p:sp>
      <p:sp>
        <p:nvSpPr>
          <p:cNvPr id="10" name="TextBox 9"/>
          <p:cNvSpPr txBox="1"/>
          <p:nvPr/>
        </p:nvSpPr>
        <p:spPr>
          <a:xfrm>
            <a:off x="2743200" y="1463040"/>
            <a:ext cx="8503920" cy="658368"/>
          </a:xfrm>
          <a:prstGeom prst="rect">
            <a:avLst/>
          </a:prstGeom>
          <a:noFill/>
        </p:spPr>
        <p:txBody>
          <a:bodyPr wrap="square" lIns="0" tIns="0">
            <a:spAutoFit/>
          </a:bodyPr>
          <a:lstStyle/>
          <a:p>
            <a:pPr>
              <a:defRPr sz="1500" b="1">
                <a:solidFill>
                  <a:srgbClr val="1A3A5C"/>
                </a:solidFill>
              </a:defRPr>
            </a:pPr>
            <a:r>
              <a:t>Démystifier le Diagramme de Gantt</a:t>
            </a:r>
          </a:p>
          <a:p>
            <a:pPr>
              <a:defRPr sz="1200">
                <a:solidFill>
                  <a:srgbClr val="5A6A7A"/>
                </a:solidFill>
              </a:defRPr>
            </a:pPr>
            <a:r>
              <a:t>Origine, utilité, 5 composantes clés et vocabulaire fondamental (jalons, dépendances, chemin critique).</a:t>
            </a:r>
          </a:p>
        </p:txBody>
      </p:sp>
      <p:sp>
        <p:nvSpPr>
          <p:cNvPr id="11" name="Rounded Rectangle 10"/>
          <p:cNvSpPr/>
          <p:nvPr/>
        </p:nvSpPr>
        <p:spPr>
          <a:xfrm>
            <a:off x="731520" y="2331720"/>
            <a:ext cx="10728655" cy="84124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2478024"/>
            <a:ext cx="1645920" cy="5486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Escale 2</a:t>
            </a:r>
          </a:p>
        </p:txBody>
      </p:sp>
      <p:sp>
        <p:nvSpPr>
          <p:cNvPr id="13" name="TextBox 12"/>
          <p:cNvSpPr txBox="1"/>
          <p:nvPr/>
        </p:nvSpPr>
        <p:spPr>
          <a:xfrm>
            <a:off x="2743200" y="2423160"/>
            <a:ext cx="8503920" cy="658368"/>
          </a:xfrm>
          <a:prstGeom prst="rect">
            <a:avLst/>
          </a:prstGeom>
          <a:noFill/>
        </p:spPr>
        <p:txBody>
          <a:bodyPr wrap="square" lIns="0" tIns="0">
            <a:spAutoFit/>
          </a:bodyPr>
          <a:lstStyle/>
          <a:p>
            <a:pPr>
              <a:defRPr sz="1500" b="1">
                <a:solidFill>
                  <a:srgbClr val="1A3A5C"/>
                </a:solidFill>
              </a:defRPr>
            </a:pPr>
            <a:r>
              <a:t>La Méthode pas-à-pas (WBS)</a:t>
            </a:r>
          </a:p>
          <a:p>
            <a:pPr>
              <a:defRPr sz="1200">
                <a:solidFill>
                  <a:srgbClr val="5A6A7A"/>
                </a:solidFill>
              </a:defRPr>
            </a:pPr>
            <a:r>
              <a:t>Comment structurer sa pensée de la feuille blanche au découpage en 4 phases d'une campagne.</a:t>
            </a:r>
          </a:p>
        </p:txBody>
      </p:sp>
      <p:sp>
        <p:nvSpPr>
          <p:cNvPr id="14" name="Rounded Rectangle 13"/>
          <p:cNvSpPr/>
          <p:nvPr/>
        </p:nvSpPr>
        <p:spPr>
          <a:xfrm>
            <a:off x="731520" y="3291840"/>
            <a:ext cx="10728655" cy="84124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438144"/>
            <a:ext cx="1645920" cy="54864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Escale 3</a:t>
            </a:r>
          </a:p>
        </p:txBody>
      </p:sp>
      <p:sp>
        <p:nvSpPr>
          <p:cNvPr id="16" name="TextBox 15"/>
          <p:cNvSpPr txBox="1"/>
          <p:nvPr/>
        </p:nvSpPr>
        <p:spPr>
          <a:xfrm>
            <a:off x="2743200" y="3383280"/>
            <a:ext cx="8503920" cy="658368"/>
          </a:xfrm>
          <a:prstGeom prst="rect">
            <a:avLst/>
          </a:prstGeom>
          <a:noFill/>
        </p:spPr>
        <p:txBody>
          <a:bodyPr wrap="square" lIns="0" tIns="0">
            <a:spAutoFit/>
          </a:bodyPr>
          <a:lstStyle/>
          <a:p>
            <a:pPr>
              <a:defRPr sz="1500" b="1">
                <a:solidFill>
                  <a:srgbClr val="1A3A5C"/>
                </a:solidFill>
              </a:defRPr>
            </a:pPr>
            <a:r>
              <a:t>L'Ordonnancement &amp; les RH</a:t>
            </a:r>
          </a:p>
          <a:p>
            <a:pPr>
              <a:defRPr sz="1200">
                <a:solidFill>
                  <a:srgbClr val="5A6A7A"/>
                </a:solidFill>
              </a:defRPr>
            </a:pPr>
            <a:r>
              <a:t>Lier les antériorités, estimer les durées réelles, intégrer des marges et affecter les bons profils RH.</a:t>
            </a:r>
          </a:p>
        </p:txBody>
      </p:sp>
      <p:sp>
        <p:nvSpPr>
          <p:cNvPr id="17" name="Rounded Rectangle 16"/>
          <p:cNvSpPr/>
          <p:nvPr/>
        </p:nvSpPr>
        <p:spPr>
          <a:xfrm>
            <a:off x="731520" y="4251960"/>
            <a:ext cx="10728655" cy="84124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4398264"/>
            <a:ext cx="1645920" cy="548640"/>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Escale 4</a:t>
            </a:r>
          </a:p>
        </p:txBody>
      </p:sp>
      <p:sp>
        <p:nvSpPr>
          <p:cNvPr id="19" name="TextBox 18"/>
          <p:cNvSpPr txBox="1"/>
          <p:nvPr/>
        </p:nvSpPr>
        <p:spPr>
          <a:xfrm>
            <a:off x="2743200" y="4343400"/>
            <a:ext cx="8503920" cy="658368"/>
          </a:xfrm>
          <a:prstGeom prst="rect">
            <a:avLst/>
          </a:prstGeom>
          <a:noFill/>
        </p:spPr>
        <p:txBody>
          <a:bodyPr wrap="square" lIns="0" tIns="0">
            <a:spAutoFit/>
          </a:bodyPr>
          <a:lstStyle/>
          <a:p>
            <a:pPr>
              <a:defRPr sz="1500" b="1">
                <a:solidFill>
                  <a:srgbClr val="1A3A5C"/>
                </a:solidFill>
              </a:defRPr>
            </a:pPr>
            <a:r>
              <a:t>Le Budget par Tâche &amp; Trésorerie</a:t>
            </a:r>
          </a:p>
          <a:p>
            <a:pPr>
              <a:defRPr sz="1200">
                <a:solidFill>
                  <a:srgbClr val="5A6A7A"/>
                </a:solidFill>
              </a:defRPr>
            </a:pPr>
            <a:r>
              <a:t>Associer chaque tâche à un coût précis (RH, média, outils) et anticiper les décaissements (cash-flow).</a:t>
            </a:r>
          </a:p>
        </p:txBody>
      </p:sp>
      <p:sp>
        <p:nvSpPr>
          <p:cNvPr id="20" name="Rounded Rectangle 19"/>
          <p:cNvSpPr/>
          <p:nvPr/>
        </p:nvSpPr>
        <p:spPr>
          <a:xfrm>
            <a:off x="731520" y="5212080"/>
            <a:ext cx="10728655" cy="84124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5358384"/>
            <a:ext cx="1645920" cy="548640"/>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Escale 5</a:t>
            </a:r>
          </a:p>
        </p:txBody>
      </p:sp>
      <p:sp>
        <p:nvSpPr>
          <p:cNvPr id="22" name="TextBox 21"/>
          <p:cNvSpPr txBox="1"/>
          <p:nvPr/>
        </p:nvSpPr>
        <p:spPr>
          <a:xfrm>
            <a:off x="2743200" y="5303520"/>
            <a:ext cx="8503920" cy="658368"/>
          </a:xfrm>
          <a:prstGeom prst="rect">
            <a:avLst/>
          </a:prstGeom>
          <a:noFill/>
        </p:spPr>
        <p:txBody>
          <a:bodyPr wrap="square" lIns="0" tIns="0">
            <a:spAutoFit/>
          </a:bodyPr>
          <a:lstStyle/>
          <a:p>
            <a:pPr>
              <a:defRPr sz="1500" b="1">
                <a:solidFill>
                  <a:srgbClr val="1A3A5C"/>
                </a:solidFill>
              </a:defRPr>
            </a:pPr>
            <a:r>
              <a:t>Cas Pratique, Grille PP2 &amp; Atelier</a:t>
            </a:r>
          </a:p>
          <a:p>
            <a:pPr>
              <a:defRPr sz="1200">
                <a:solidFill>
                  <a:srgbClr val="5A6A7A"/>
                </a:solidFill>
              </a:defRPr>
            </a:pPr>
            <a:r>
              <a:t>Démonstration d'un cas complet chiffré, décryptage de la grille /6 pts et conseils pour le rendu.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Sondage en direct : Quel gestionnaire de projet êtes-vous ?</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4/22</a:t>
            </a:r>
          </a:p>
        </p:txBody>
      </p:sp>
      <p:sp>
        <p:nvSpPr>
          <p:cNvPr id="8" name="Rounded Rectangle 7"/>
          <p:cNvSpPr/>
          <p:nvPr/>
        </p:nvSpPr>
        <p:spPr>
          <a:xfrm>
            <a:off x="731520" y="1371600"/>
            <a:ext cx="10728655" cy="1188720"/>
          </a:xfrm>
          <a:prstGeom prst="roundRect">
            <a:avLst/>
          </a:prstGeom>
          <a:solidFill>
            <a:srgbClr val="1A3A5C"/>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600" b="1">
                <a:solidFill>
                  <a:srgbClr val="E8912D"/>
                </a:solidFill>
              </a:defRPr>
            </a:pPr>
            <a:r>
              <a:t>💬 Question dans le Chat (écrivez A, B ou C) :</a:t>
            </a:r>
          </a:p>
          <a:p>
            <a:pPr>
              <a:spcBef>
                <a:spcPts val="400"/>
              </a:spcBef>
              <a:defRPr sz="1800" b="1">
                <a:solidFill>
                  <a:srgbClr val="FFFFFF"/>
                </a:solidFill>
              </a:defRPr>
            </a:pPr>
            <a:r>
              <a:t>« Quand vous devez organiser un projet ou un événement, quelle est votre première réaction ? »</a:t>
            </a:r>
          </a:p>
        </p:txBody>
      </p:sp>
      <p:sp>
        <p:nvSpPr>
          <p:cNvPr id="9" name="Rounded Rectangle 8"/>
          <p:cNvSpPr/>
          <p:nvPr/>
        </p:nvSpPr>
        <p:spPr>
          <a:xfrm>
            <a:off x="731520" y="2743200"/>
            <a:ext cx="3291840" cy="33832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011680" y="2926080"/>
            <a:ext cx="731520" cy="731520"/>
          </a:xfrm>
          <a:prstGeom prst="ellipse">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A</a:t>
            </a:r>
          </a:p>
        </p:txBody>
      </p:sp>
      <p:sp>
        <p:nvSpPr>
          <p:cNvPr id="11" name="TextBox 10"/>
          <p:cNvSpPr txBox="1"/>
          <p:nvPr/>
        </p:nvSpPr>
        <p:spPr>
          <a:xfrm>
            <a:off x="960120" y="3840480"/>
            <a:ext cx="2834640" cy="2103120"/>
          </a:xfrm>
          <a:prstGeom prst="rect">
            <a:avLst/>
          </a:prstGeom>
          <a:noFill/>
        </p:spPr>
        <p:txBody>
          <a:bodyPr wrap="square" lIns="0" rIns="0">
            <a:spAutoFit/>
          </a:bodyPr>
          <a:lstStyle/>
          <a:p>
            <a:pPr algn="ctr">
              <a:defRPr sz="1500" b="1">
                <a:solidFill>
                  <a:srgbClr val="1A3A5C"/>
                </a:solidFill>
              </a:defRPr>
            </a:pPr>
            <a:r>
              <a:t>L'Artiste Spontané</a:t>
            </a:r>
          </a:p>
          <a:p>
            <a:pPr algn="ctr">
              <a:spcBef>
                <a:spcPts val="800"/>
              </a:spcBef>
              <a:defRPr sz="1250">
                <a:solidFill>
                  <a:srgbClr val="2C3E50"/>
                </a:solidFill>
              </a:defRPr>
            </a:pPr>
            <a:r>
              <a:t>« J'ai tout dans la tête ! Je fonce, j'improvise au fur et à mesure et je gère les urgences le jour J. »</a:t>
            </a:r>
          </a:p>
        </p:txBody>
      </p:sp>
      <p:sp>
        <p:nvSpPr>
          <p:cNvPr id="12" name="Rounded Rectangle 11"/>
          <p:cNvSpPr/>
          <p:nvPr/>
        </p:nvSpPr>
        <p:spPr>
          <a:xfrm>
            <a:off x="4449470" y="2743200"/>
            <a:ext cx="3291840" cy="33832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29630" y="2926080"/>
            <a:ext cx="731520" cy="7315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B</a:t>
            </a:r>
          </a:p>
        </p:txBody>
      </p:sp>
      <p:sp>
        <p:nvSpPr>
          <p:cNvPr id="14" name="TextBox 13"/>
          <p:cNvSpPr txBox="1"/>
          <p:nvPr/>
        </p:nvSpPr>
        <p:spPr>
          <a:xfrm>
            <a:off x="4678070" y="3840480"/>
            <a:ext cx="2834640" cy="2103120"/>
          </a:xfrm>
          <a:prstGeom prst="rect">
            <a:avLst/>
          </a:prstGeom>
          <a:noFill/>
        </p:spPr>
        <p:txBody>
          <a:bodyPr wrap="square" lIns="0" rIns="0">
            <a:spAutoFit/>
          </a:bodyPr>
          <a:lstStyle/>
          <a:p>
            <a:pPr algn="ctr">
              <a:defRPr sz="1500" b="1">
                <a:solidFill>
                  <a:srgbClr val="1A3A5C"/>
                </a:solidFill>
              </a:defRPr>
            </a:pPr>
            <a:r>
              <a:t>L'Adepte de la To-Do List</a:t>
            </a:r>
          </a:p>
          <a:p>
            <a:pPr algn="ctr">
              <a:spcBef>
                <a:spcPts val="800"/>
              </a:spcBef>
              <a:defRPr sz="1250">
                <a:solidFill>
                  <a:srgbClr val="2C3E50"/>
                </a:solidFill>
              </a:defRPr>
            </a:pPr>
            <a:r>
              <a:t>« J'écris une longue liste de choses à faire dans mon carnet ou mon téléphone, et je coche quand c'est fait. »</a:t>
            </a:r>
          </a:p>
        </p:txBody>
      </p:sp>
      <p:sp>
        <p:nvSpPr>
          <p:cNvPr id="15" name="Rounded Rectangle 14"/>
          <p:cNvSpPr/>
          <p:nvPr/>
        </p:nvSpPr>
        <p:spPr>
          <a:xfrm>
            <a:off x="8167420" y="2743200"/>
            <a:ext cx="3291840" cy="33832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47580" y="2926080"/>
            <a:ext cx="731520" cy="7315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C</a:t>
            </a:r>
          </a:p>
        </p:txBody>
      </p:sp>
      <p:sp>
        <p:nvSpPr>
          <p:cNvPr id="17" name="TextBox 16"/>
          <p:cNvSpPr txBox="1"/>
          <p:nvPr/>
        </p:nvSpPr>
        <p:spPr>
          <a:xfrm>
            <a:off x="8396020" y="3840480"/>
            <a:ext cx="2834640" cy="2103120"/>
          </a:xfrm>
          <a:prstGeom prst="rect">
            <a:avLst/>
          </a:prstGeom>
          <a:noFill/>
        </p:spPr>
        <p:txBody>
          <a:bodyPr wrap="square" lIns="0" rIns="0">
            <a:spAutoFit/>
          </a:bodyPr>
          <a:lstStyle/>
          <a:p>
            <a:pPr algn="ctr">
              <a:defRPr sz="1500" b="1">
                <a:solidFill>
                  <a:srgbClr val="1A3A5C"/>
                </a:solidFill>
              </a:defRPr>
            </a:pPr>
            <a:r>
              <a:t>Le Stratège Visionnaire</a:t>
            </a:r>
          </a:p>
          <a:p>
            <a:pPr algn="ctr">
              <a:spcBef>
                <a:spcPts val="800"/>
              </a:spcBef>
              <a:defRPr sz="1250">
                <a:solidFill>
                  <a:srgbClr val="2C3E50"/>
                </a:solidFill>
              </a:defRPr>
            </a:pPr>
            <a:r>
              <a:t>« Je découpe le projet, j'estime le temps, je vérifie qui fait quoi et je calcule les coûts à l'avance.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Escale 1 : Qu'est-ce qu'un Diagramme de Gantt ?</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5/22</a:t>
            </a:r>
          </a:p>
        </p:txBody>
      </p:sp>
      <p:sp>
        <p:nvSpPr>
          <p:cNvPr id="8" name="Rounded Rectangle 7"/>
          <p:cNvSpPr/>
          <p:nvPr/>
        </p:nvSpPr>
        <p:spPr>
          <a:xfrm>
            <a:off x="731520" y="1371600"/>
            <a:ext cx="685800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320040" rIns="320040" tIns="274320"/>
          <a:lstStyle/>
          <a:p>
            <a:pPr algn="ctr">
              <a:defRPr sz="1800" b="1">
                <a:solidFill>
                  <a:srgbClr val="1A3A5C"/>
                </a:solidFill>
              </a:defRPr>
            </a:pPr>
            <a:r>
              <a:t>📌 Définition &amp; Rôle Central</a:t>
            </a:r>
          </a:p>
          <a:p>
            <a:pPr>
              <a:spcBef>
                <a:spcPts val="800"/>
              </a:spcBef>
              <a:defRPr sz="1350">
                <a:solidFill>
                  <a:srgbClr val="2C3E50"/>
                </a:solidFill>
              </a:defRPr>
            </a:pPr>
            <a:r>
              <a:t>Un diagramme de Gantt est une représentation graphique du calendrier d'un projet. Il modélise sur un repère à double entrée :</a:t>
            </a:r>
            <a:br/>
            <a:br/>
            <a:r>
              <a:t>1. En vertical (axe Y) : L'ensemble des tâches et activités nécessaires.</a:t>
            </a:r>
            <a:br/>
            <a:r>
              <a:t>2. En horizontal (axe X) : L'échelle du temps (jours, semaines, mois).</a:t>
            </a:r>
            <a:br/>
            <a:br/>
            <a:r>
              <a:t>Chaque tâche est matérialisée par une barre horizontale dont la position indique le début et la fin, et la longueur représente sa durée calendaire.</a:t>
            </a:r>
          </a:p>
          <a:p>
            <a:pPr>
              <a:spcBef>
                <a:spcPts val="1400"/>
              </a:spcBef>
              <a:defRPr sz="1600" b="1">
                <a:solidFill>
                  <a:srgbClr val="E8912D"/>
                </a:solidFill>
              </a:defRPr>
            </a:pPr>
            <a:r>
              <a:t>💡 Pourquoi a-t-il traversé plus d'un siècle ?</a:t>
            </a:r>
          </a:p>
          <a:p>
            <a:pPr>
              <a:spcBef>
                <a:spcPts val="600"/>
              </a:spcBef>
              <a:defRPr sz="1300">
                <a:solidFill>
                  <a:srgbClr val="5A6A7A"/>
                </a:solidFill>
              </a:defRPr>
            </a:pPr>
            <a:r>
              <a:t>Inventé par Henry Gantt vers 1910, cet outil s'est imposé car il répond au besoin biologique du cerveau humain : visualiser le temps dans l'espace pour coordonner des équipes sans stress.</a:t>
            </a:r>
          </a:p>
        </p:txBody>
      </p:sp>
      <p:sp>
        <p:nvSpPr>
          <p:cNvPr id="9" name="Rounded Rectangle 8"/>
          <p:cNvSpPr/>
          <p:nvPr/>
        </p:nvSpPr>
        <p:spPr>
          <a:xfrm>
            <a:off x="7772400" y="1371600"/>
            <a:ext cx="3687775" cy="4754880"/>
          </a:xfrm>
          <a:prstGeom prst="roundRect">
            <a:avLst/>
          </a:prstGeom>
          <a:solidFill>
            <a:srgbClr val="1A3A5C"/>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E8912D"/>
                </a:solidFill>
              </a:defRPr>
            </a:pPr>
            <a:r>
              <a:t>👁️ Les 3 Questions auxquelles le Gantt répond en 1 seconde :</a:t>
            </a:r>
          </a:p>
          <a:p>
            <a:pPr>
              <a:spcBef>
                <a:spcPts val="1200"/>
              </a:spcBef>
              <a:defRPr sz="1350">
                <a:solidFill>
                  <a:srgbClr val="FFFFFF"/>
                </a:solidFill>
              </a:defRPr>
            </a:pPr>
            <a:r>
              <a:t>1. Qui fait quoi et quand ?</a:t>
            </a:r>
            <a:br/>
            <a:r>
              <a:t>→ Visibilité immédiate sur les rôles et les échéances.</a:t>
            </a:r>
            <a:br/>
            <a:br/>
            <a:r>
              <a:t>2. Qu'est-ce qui bloque quoi ?</a:t>
            </a:r>
            <a:br/>
            <a:r>
              <a:t>→ Identification des goulots d'étranglement et des enchaînements obligatoires.</a:t>
            </a:r>
            <a:br/>
            <a:br/>
            <a:r>
              <a:t>3. Où en sommes-nous aujourd'hui ?</a:t>
            </a:r>
            <a:br/>
            <a:r>
              <a:t>→ Comparaison instantanée entre le prévisionnel et l'avancement réel.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Le Vocabulaire Fondamental du Chef de Projet (1/2)</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6/22</a:t>
            </a:r>
          </a:p>
        </p:txBody>
      </p:sp>
      <p:sp>
        <p:nvSpPr>
          <p:cNvPr id="8" name="Rounded Rectangle 7"/>
          <p:cNvSpPr/>
          <p:nvPr/>
        </p:nvSpPr>
        <p:spPr>
          <a:xfrm>
            <a:off x="731520" y="1371600"/>
            <a:ext cx="347472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1E88E5"/>
                </a:solidFill>
              </a:defRPr>
            </a:pPr>
            <a:r>
              <a:t>1. La Tâche (Task)</a:t>
            </a:r>
          </a:p>
          <a:p>
            <a:pPr>
              <a:spcBef>
                <a:spcPts val="800"/>
              </a:spcBef>
              <a:defRPr sz="1250">
                <a:solidFill>
                  <a:srgbClr val="2C3E50"/>
                </a:solidFill>
              </a:defRPr>
            </a:pPr>
            <a:r>
              <a:t>L'unité élémentaire de travail. C'est une action concrète, assignable à un responsable unique, avec un début, une fin et un livrable vérifiable.</a:t>
            </a:r>
          </a:p>
        </p:txBody>
      </p:sp>
      <p:sp>
        <p:nvSpPr>
          <p:cNvPr id="9" name="Rounded Rectangle 8"/>
          <p:cNvSpPr/>
          <p:nvPr/>
        </p:nvSpPr>
        <p:spPr>
          <a:xfrm>
            <a:off x="86868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 Rédiger les accroches du flyer »</a:t>
            </a:r>
            <a:br/>
            <a:r>
              <a:t>« Paramétrer la campagne Facebook Ads »</a:t>
            </a:r>
          </a:p>
        </p:txBody>
      </p:sp>
      <p:sp>
        <p:nvSpPr>
          <p:cNvPr id="10" name="Rounded Rectangle 9"/>
          <p:cNvSpPr/>
          <p:nvPr/>
        </p:nvSpPr>
        <p:spPr>
          <a:xfrm>
            <a:off x="4449470" y="1371600"/>
            <a:ext cx="347472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E8912D"/>
                </a:solidFill>
              </a:defRPr>
            </a:pPr>
            <a:r>
              <a:t>2. Charge vs Durée</a:t>
            </a:r>
          </a:p>
          <a:p>
            <a:pPr>
              <a:spcBef>
                <a:spcPts val="800"/>
              </a:spcBef>
              <a:defRPr sz="1250">
                <a:solidFill>
                  <a:srgbClr val="2C3E50"/>
                </a:solidFill>
              </a:defRPr>
            </a:pPr>
            <a:r>
              <a:t>ATTENTION : Le piège classique !</a:t>
            </a:r>
            <a:br/>
            <a:r>
              <a:t>• Charge : Temps de travail effectif requis (ex : 4 heures).</a:t>
            </a:r>
            <a:br/>
            <a:r>
              <a:t>• Durée : Délai calendaire écoulé entre le début et la fin (ex : 2 jours car on attend la validation).</a:t>
            </a:r>
          </a:p>
        </p:txBody>
      </p:sp>
      <p:sp>
        <p:nvSpPr>
          <p:cNvPr id="11" name="Rounded Rectangle 10"/>
          <p:cNvSpPr/>
          <p:nvPr/>
        </p:nvSpPr>
        <p:spPr>
          <a:xfrm>
            <a:off x="458663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Charge graphiste = 3 heures.</a:t>
            </a:r>
            <a:br/>
            <a:r>
              <a:t>Durée dans le Gantt = 3 jours (création + aller-retour validation client).</a:t>
            </a:r>
          </a:p>
        </p:txBody>
      </p:sp>
      <p:sp>
        <p:nvSpPr>
          <p:cNvPr id="12" name="Rounded Rectangle 11"/>
          <p:cNvSpPr/>
          <p:nvPr/>
        </p:nvSpPr>
        <p:spPr>
          <a:xfrm>
            <a:off x="8167420" y="1371600"/>
            <a:ext cx="3474720" cy="4754880"/>
          </a:xfrm>
          <a:prstGeom prst="roundRect">
            <a:avLst/>
          </a:prstGeom>
          <a:solidFill>
            <a:srgbClr val="FFFFFF"/>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D4A017"/>
                </a:solidFill>
              </a:defRPr>
            </a:pPr>
            <a:r>
              <a:t>3. Le Jalon (Milestone)</a:t>
            </a:r>
          </a:p>
          <a:p>
            <a:pPr>
              <a:spcBef>
                <a:spcPts val="800"/>
              </a:spcBef>
              <a:defRPr sz="1250">
                <a:solidFill>
                  <a:srgbClr val="2C3E50"/>
                </a:solidFill>
              </a:defRPr>
            </a:pPr>
            <a:r>
              <a:t>Un événement clé, une étape charnière qui marque l'achèvement d'une phase ou une validation majeure.</a:t>
            </a:r>
            <a:br/>
            <a:r>
              <a:t>Sa durée dans le Gantt est égale à ZÉRO (symbole losange ◆).</a:t>
            </a:r>
          </a:p>
        </p:txBody>
      </p:sp>
      <p:sp>
        <p:nvSpPr>
          <p:cNvPr id="13" name="Rounded Rectangle 12"/>
          <p:cNvSpPr/>
          <p:nvPr/>
        </p:nvSpPr>
        <p:spPr>
          <a:xfrm>
            <a:off x="830458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 Validation officielle du brief »</a:t>
            </a:r>
            <a:br/>
            <a:r>
              <a:t>« Lancement public de la campagne »</a:t>
            </a:r>
            <a:br/>
            <a:r>
              <a:t>« Dépôt du Livrable PP2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Le Vocabulaire Fondamental du Chef de Projet (2/2)</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7/22</a:t>
            </a:r>
          </a:p>
        </p:txBody>
      </p:sp>
      <p:sp>
        <p:nvSpPr>
          <p:cNvPr id="8" name="Rounded Rectangle 7"/>
          <p:cNvSpPr/>
          <p:nvPr/>
        </p:nvSpPr>
        <p:spPr>
          <a:xfrm>
            <a:off x="731520" y="1371600"/>
            <a:ext cx="3474720" cy="47548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0D9488"/>
                </a:solidFill>
              </a:defRPr>
            </a:pPr>
            <a:r>
              <a:t>4. Dépendances / Antériorités</a:t>
            </a:r>
          </a:p>
          <a:p>
            <a:pPr>
              <a:spcBef>
                <a:spcPts val="800"/>
              </a:spcBef>
              <a:defRPr sz="1250">
                <a:solidFill>
                  <a:srgbClr val="2C3E50"/>
                </a:solidFill>
              </a:defRPr>
            </a:pPr>
            <a:r>
              <a:t>Les liaisons logiques qui dictent l'ordre des tâches.</a:t>
            </a:r>
            <a:br/>
            <a:r>
              <a:t>• Fin-à-Début (FD - le plus courant) : La tâche B ne peut commencer que si la tâche A est terminée.</a:t>
            </a:r>
            <a:br/>
            <a:r>
              <a:t>• Début-à-Début (DD) : Deux tâches démarrent ensemble.</a:t>
            </a:r>
          </a:p>
        </p:txBody>
      </p:sp>
      <p:sp>
        <p:nvSpPr>
          <p:cNvPr id="9" name="Rounded Rectangle 8"/>
          <p:cNvSpPr/>
          <p:nvPr/>
        </p:nvSpPr>
        <p:spPr>
          <a:xfrm>
            <a:off x="86868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On ne peut pas diffuser la vidéo sponsorisée (B) si le montage vidéo n'est pas validé (A). Liaison FD obligatoire.</a:t>
            </a:r>
          </a:p>
        </p:txBody>
      </p:sp>
      <p:sp>
        <p:nvSpPr>
          <p:cNvPr id="10" name="Rounded Rectangle 9"/>
          <p:cNvSpPr/>
          <p:nvPr/>
        </p:nvSpPr>
        <p:spPr>
          <a:xfrm>
            <a:off x="4449470" y="1371600"/>
            <a:ext cx="3474720" cy="4754880"/>
          </a:xfrm>
          <a:prstGeom prst="roundRect">
            <a:avLst/>
          </a:prstGeom>
          <a:solidFill>
            <a:srgbClr val="FFFFFF"/>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D9534F"/>
                </a:solidFill>
              </a:defRPr>
            </a:pPr>
            <a:r>
              <a:t>5. Le Chemin Critique</a:t>
            </a:r>
          </a:p>
          <a:p>
            <a:pPr>
              <a:spcBef>
                <a:spcPts val="800"/>
              </a:spcBef>
              <a:defRPr sz="1250">
                <a:solidFill>
                  <a:srgbClr val="2C3E50"/>
                </a:solidFill>
              </a:defRPr>
            </a:pPr>
            <a:r>
              <a:t>La séquence ininterrompue des tâches qui détermine la durée totale incompressible du projet.</a:t>
            </a:r>
            <a:br/>
            <a:r>
              <a:t>Toute tâche sur le chemin critique a une marge nulle : 1 jour de retard sur elle = 1 jour de retard sur le projet entier !</a:t>
            </a:r>
          </a:p>
        </p:txBody>
      </p:sp>
      <p:sp>
        <p:nvSpPr>
          <p:cNvPr id="11" name="Rounded Rectangle 10"/>
          <p:cNvSpPr/>
          <p:nvPr/>
        </p:nvSpPr>
        <p:spPr>
          <a:xfrm>
            <a:off x="458663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Brief → Tournage → Montage → Diffusion. Si le tournage prend 2 jours de retard, toute la campagne est décalée.</a:t>
            </a:r>
          </a:p>
        </p:txBody>
      </p:sp>
      <p:sp>
        <p:nvSpPr>
          <p:cNvPr id="12" name="Rounded Rectangle 11"/>
          <p:cNvSpPr/>
          <p:nvPr/>
        </p:nvSpPr>
        <p:spPr>
          <a:xfrm>
            <a:off x="8167420" y="1371600"/>
            <a:ext cx="347472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600" b="1">
                <a:solidFill>
                  <a:srgbClr val="1E88E5"/>
                </a:solidFill>
              </a:defRPr>
            </a:pPr>
            <a:r>
              <a:t>6. Les Marges de Sécurité</a:t>
            </a:r>
          </a:p>
          <a:p>
            <a:pPr>
              <a:spcBef>
                <a:spcPts val="800"/>
              </a:spcBef>
              <a:defRPr sz="1250">
                <a:solidFill>
                  <a:srgbClr val="2C3E50"/>
                </a:solidFill>
              </a:defRPr>
            </a:pPr>
            <a:r>
              <a:t>Le temps dont une tâche peut être retardée sans impacter la date finale du projet (marge totale) ou la tâche suivante (marge libre).</a:t>
            </a:r>
            <a:br/>
            <a:r>
              <a:t>C'est votre coussin de sécurité anti-stress face aux imprévus.</a:t>
            </a:r>
          </a:p>
        </p:txBody>
      </p:sp>
      <p:sp>
        <p:nvSpPr>
          <p:cNvPr id="13" name="Rounded Rectangle 12"/>
          <p:cNvSpPr/>
          <p:nvPr/>
        </p:nvSpPr>
        <p:spPr>
          <a:xfrm>
            <a:off x="8304580" y="4297680"/>
            <a:ext cx="3200400" cy="1645920"/>
          </a:xfrm>
          <a:prstGeom prst="roundRect">
            <a:avLst/>
          </a:prstGeom>
          <a:solidFill>
            <a:srgbClr val="F5F7FA"/>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A3A5C"/>
                </a:solidFill>
              </a:defRPr>
            </a:pPr>
            <a:r>
              <a:t>Exemple concret :</a:t>
            </a:r>
          </a:p>
          <a:p>
            <a:pPr>
              <a:spcBef>
                <a:spcPts val="400"/>
              </a:spcBef>
              <a:defRPr sz="1100">
                <a:solidFill>
                  <a:srgbClr val="5A6A7A"/>
                </a:solidFill>
              </a:defRPr>
            </a:pPr>
            <a:r>
              <a:t>La rédaction des articles de blog a 4 jours de marge car la newsletter part plus tard. On peut absorber un contretemps.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Escale 2 : Structurer sa pensée — La Règle d'Or</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8/22</a:t>
            </a:r>
          </a:p>
        </p:txBody>
      </p:sp>
      <p:sp>
        <p:nvSpPr>
          <p:cNvPr id="8" name="Rounded Rectangle 7"/>
          <p:cNvSpPr/>
          <p:nvPr/>
        </p:nvSpPr>
        <p:spPr>
          <a:xfrm>
            <a:off x="731520" y="1371600"/>
            <a:ext cx="10728655" cy="1005840"/>
          </a:xfrm>
          <a:prstGeom prst="roundRect">
            <a:avLst/>
          </a:prstGeom>
          <a:solidFill>
            <a:srgbClr val="FEF3C7"/>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320040" tIns="137160"/>
          <a:lstStyle/>
          <a:p>
            <a:pPr algn="ctr">
              <a:defRPr sz="1400" b="1">
                <a:solidFill>
                  <a:srgbClr val="E8912D"/>
                </a:solidFill>
              </a:defRPr>
            </a:pPr>
            <a:r>
              <a:t>⚠️ LA RÈGLE D'OR ABSOLUE DU GESTIONNAIRE DE PROJET :</a:t>
            </a:r>
          </a:p>
          <a:p>
            <a:pPr>
              <a:spcBef>
                <a:spcPts val="200"/>
              </a:spcBef>
              <a:defRPr sz="1600" b="1">
                <a:solidFill>
                  <a:srgbClr val="1A3A5C"/>
                </a:solidFill>
              </a:defRPr>
            </a:pPr>
            <a:r>
              <a:t>« On ne commence JAMAIS par dessiner des barres sur un calendrier ! On commence par décomposer son projet. »</a:t>
            </a:r>
          </a:p>
        </p:txBody>
      </p:sp>
      <p:sp>
        <p:nvSpPr>
          <p:cNvPr id="9" name="Rounded Rectangle 8"/>
          <p:cNvSpPr/>
          <p:nvPr/>
        </p:nvSpPr>
        <p:spPr>
          <a:xfrm>
            <a:off x="731520" y="2560320"/>
            <a:ext cx="5120640" cy="356616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600" b="1">
                <a:solidFill>
                  <a:srgbClr val="1A3A5C"/>
                </a:solidFill>
              </a:defRPr>
            </a:pPr>
            <a:r>
              <a:t>🧱 La Méthode WBS (Work Breakdown Structure)</a:t>
            </a:r>
          </a:p>
          <a:p>
            <a:pPr>
              <a:spcBef>
                <a:spcPts val="600"/>
              </a:spcBef>
              <a:defRPr sz="1300">
                <a:solidFill>
                  <a:srgbClr val="2C3E50"/>
                </a:solidFill>
              </a:defRPr>
            </a:pPr>
            <a:r>
              <a:t>En français : Organigramme des Tâches (OT) ou Structure de Décomposition du Projet (SDP).</a:t>
            </a:r>
            <a:br/>
            <a:br/>
            <a:r>
              <a:t>Principe : On découpe un gros livrable intimidant en sous-ensembles gérables, comme on découpe une pizza en parts pour pouvoir la manger.</a:t>
            </a:r>
            <a:br/>
            <a:br/>
            <a:r>
              <a:t>La hiérarchie universelle :</a:t>
            </a:r>
            <a:br/>
            <a:r>
              <a:t>• Niveau 1 : Le Projet Global</a:t>
            </a:r>
            <a:br/>
            <a:r>
              <a:t>• Niveau 2 : Les Grandes Phases chronologiques</a:t>
            </a:r>
            <a:br/>
            <a:r>
              <a:t>• Niveau 3 : Les Lots de travail (Livrables)</a:t>
            </a:r>
            <a:br/>
            <a:r>
              <a:t>• Niveau 4 : Les Tâches opérationnelles</a:t>
            </a:r>
          </a:p>
        </p:txBody>
      </p:sp>
      <p:sp>
        <p:nvSpPr>
          <p:cNvPr id="10" name="Rounded Rectangle 9"/>
          <p:cNvSpPr/>
          <p:nvPr/>
        </p:nvSpPr>
        <p:spPr>
          <a:xfrm>
            <a:off x="6339535" y="2560320"/>
            <a:ext cx="5120640" cy="35661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600" b="1">
                <a:solidFill>
                  <a:srgbClr val="0D9488"/>
                </a:solidFill>
              </a:defRPr>
            </a:pPr>
            <a:r>
              <a:t>🎯 Pourquoi cette étape vous sauve la vie ?</a:t>
            </a:r>
          </a:p>
          <a:p>
            <a:pPr>
              <a:spcBef>
                <a:spcPts val="600"/>
              </a:spcBef>
              <a:defRPr sz="1300">
                <a:solidFill>
                  <a:srgbClr val="2C3E50"/>
                </a:solidFill>
              </a:defRPr>
            </a:pPr>
            <a:r>
              <a:t>1. Zéro Oubli : En suivant les phases, vous ne risquez pas d'oublier la relecture, le paramétrage technique ou le bilan.</a:t>
            </a:r>
            <a:br/>
            <a:br/>
            <a:r>
              <a:t>2. Clarté Mentale : Vous évitez la sensation d'être submergé par l'ampleur de la campagne.</a:t>
            </a:r>
            <a:br/>
            <a:br/>
            <a:r>
              <a:t>3. Estimation Facile : Il est 10 fois plus facile d'estimer le temps et le coût d'une tâche précise de 2 jours que d'une campagne entière de 2 mois.</a:t>
            </a:r>
            <a:br/>
            <a:br/>
            <a:r>
              <a:t>4. Cohérence PP1 → PP2 : Chaque action d'acquisition ou de rétention définie dans votre Livrable 1 devient un lot de travail WBS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Les 4 Phases Incontournables d'une Campagne Marketing</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9/22</a:t>
            </a:r>
          </a:p>
        </p:txBody>
      </p:sp>
      <p:sp>
        <p:nvSpPr>
          <p:cNvPr id="8" name="Rounded Rectangle 7"/>
          <p:cNvSpPr/>
          <p:nvPr/>
        </p:nvSpPr>
        <p:spPr>
          <a:xfrm>
            <a:off x="731520" y="1371600"/>
            <a:ext cx="2606040" cy="4754880"/>
          </a:xfrm>
          <a:prstGeom prst="round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554480"/>
            <a:ext cx="2240280" cy="41148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PHASE 1</a:t>
            </a:r>
          </a:p>
        </p:txBody>
      </p:sp>
      <p:sp>
        <p:nvSpPr>
          <p:cNvPr id="10" name="TextBox 9"/>
          <p:cNvSpPr txBox="1"/>
          <p:nvPr/>
        </p:nvSpPr>
        <p:spPr>
          <a:xfrm>
            <a:off x="914400" y="2057400"/>
            <a:ext cx="2240280" cy="3931920"/>
          </a:xfrm>
          <a:prstGeom prst="rect">
            <a:avLst/>
          </a:prstGeom>
          <a:noFill/>
        </p:spPr>
        <p:txBody>
          <a:bodyPr wrap="square" lIns="0" rIns="0">
            <a:spAutoFit/>
          </a:bodyPr>
          <a:lstStyle/>
          <a:p>
            <a:pPr algn="ctr">
              <a:defRPr sz="1400" b="1">
                <a:solidFill>
                  <a:srgbClr val="1A3A5C"/>
                </a:solidFill>
              </a:defRPr>
            </a:pPr>
            <a:r>
              <a:t>Cadrage &amp; Préparation</a:t>
            </a:r>
          </a:p>
          <a:p>
            <a:pPr>
              <a:spcBef>
                <a:spcPts val="800"/>
              </a:spcBef>
              <a:defRPr sz="1150" b="0">
                <a:solidFill>
                  <a:srgbClr val="2C3E50"/>
                </a:solidFill>
              </a:defRPr>
            </a:pPr>
            <a:r>
              <a:t>• Validation du brief &amp; des objectifs SMART</a:t>
            </a:r>
          </a:p>
          <a:p>
            <a:pPr>
              <a:spcBef>
                <a:spcPts val="800"/>
              </a:spcBef>
              <a:defRPr sz="1150" b="0">
                <a:solidFill>
                  <a:srgbClr val="2C3E50"/>
                </a:solidFill>
              </a:defRPr>
            </a:pPr>
            <a:r>
              <a:t>• Rétroplanning &amp; budget prévisionnel</a:t>
            </a:r>
          </a:p>
          <a:p>
            <a:pPr>
              <a:spcBef>
                <a:spcPts val="800"/>
              </a:spcBef>
              <a:defRPr sz="1150" b="0">
                <a:solidFill>
                  <a:srgbClr val="2C3E50"/>
                </a:solidFill>
              </a:defRPr>
            </a:pPr>
            <a:r>
              <a:t>• Benchmark concurrentiel rapide</a:t>
            </a:r>
          </a:p>
          <a:p>
            <a:pPr>
              <a:spcBef>
                <a:spcPts val="800"/>
              </a:spcBef>
              <a:defRPr sz="1150" b="1">
                <a:solidFill>
                  <a:srgbClr val="1A3A5C"/>
                </a:solidFill>
              </a:defRPr>
            </a:pPr>
            <a:r>
              <a:t>◆ Jalon : Validation formelle de cadrage ◆</a:t>
            </a:r>
          </a:p>
        </p:txBody>
      </p:sp>
      <p:sp>
        <p:nvSpPr>
          <p:cNvPr id="11" name="Rounded Rectangle 10"/>
          <p:cNvSpPr/>
          <p:nvPr/>
        </p:nvSpPr>
        <p:spPr>
          <a:xfrm>
            <a:off x="3504895" y="1371600"/>
            <a:ext cx="260604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87775" y="1554480"/>
            <a:ext cx="2240280" cy="41148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PHASE 2</a:t>
            </a:r>
          </a:p>
        </p:txBody>
      </p:sp>
      <p:sp>
        <p:nvSpPr>
          <p:cNvPr id="13" name="TextBox 12"/>
          <p:cNvSpPr txBox="1"/>
          <p:nvPr/>
        </p:nvSpPr>
        <p:spPr>
          <a:xfrm>
            <a:off x="3687775" y="2057400"/>
            <a:ext cx="2240280" cy="3931920"/>
          </a:xfrm>
          <a:prstGeom prst="rect">
            <a:avLst/>
          </a:prstGeom>
          <a:noFill/>
        </p:spPr>
        <p:txBody>
          <a:bodyPr wrap="square" lIns="0" rIns="0">
            <a:spAutoFit/>
          </a:bodyPr>
          <a:lstStyle/>
          <a:p>
            <a:pPr algn="ctr">
              <a:defRPr sz="1400" b="1">
                <a:solidFill>
                  <a:srgbClr val="1A3A5C"/>
                </a:solidFill>
              </a:defRPr>
            </a:pPr>
            <a:r>
              <a:t>Création &amp; Production</a:t>
            </a:r>
          </a:p>
          <a:p>
            <a:pPr>
              <a:spcBef>
                <a:spcPts val="800"/>
              </a:spcBef>
              <a:defRPr sz="1150" b="0">
                <a:solidFill>
                  <a:srgbClr val="2C3E50"/>
                </a:solidFill>
              </a:defRPr>
            </a:pPr>
            <a:r>
              <a:t>• Rédaction des textes (copywriting, posts)</a:t>
            </a:r>
          </a:p>
          <a:p>
            <a:pPr>
              <a:spcBef>
                <a:spcPts val="800"/>
              </a:spcBef>
              <a:defRPr sz="1150" b="0">
                <a:solidFill>
                  <a:srgbClr val="2C3E50"/>
                </a:solidFill>
              </a:defRPr>
            </a:pPr>
            <a:r>
              <a:t>• Création graphique (visuels, flyers Canva)</a:t>
            </a:r>
          </a:p>
          <a:p>
            <a:pPr>
              <a:spcBef>
                <a:spcPts val="800"/>
              </a:spcBef>
              <a:defRPr sz="1150" b="0">
                <a:solidFill>
                  <a:srgbClr val="2C3E50"/>
                </a:solidFill>
              </a:defRPr>
            </a:pPr>
            <a:r>
              <a:t>• Tournage &amp; montage vidéo (CapCut, etc.)</a:t>
            </a:r>
          </a:p>
          <a:p>
            <a:pPr>
              <a:spcBef>
                <a:spcPts val="800"/>
              </a:spcBef>
              <a:defRPr sz="1150" b="1">
                <a:solidFill>
                  <a:srgbClr val="1E88E5"/>
                </a:solidFill>
              </a:defRPr>
            </a:pPr>
            <a:r>
              <a:t>◆ Jalon : Livrables créatifs validés ◆</a:t>
            </a:r>
          </a:p>
        </p:txBody>
      </p:sp>
      <p:sp>
        <p:nvSpPr>
          <p:cNvPr id="14" name="Rounded Rectangle 13"/>
          <p:cNvSpPr/>
          <p:nvPr/>
        </p:nvSpPr>
        <p:spPr>
          <a:xfrm>
            <a:off x="6278270" y="1371600"/>
            <a:ext cx="2606040" cy="47548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1150" y="1554480"/>
            <a:ext cx="22402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PHASE 3</a:t>
            </a:r>
          </a:p>
        </p:txBody>
      </p:sp>
      <p:sp>
        <p:nvSpPr>
          <p:cNvPr id="16" name="TextBox 15"/>
          <p:cNvSpPr txBox="1"/>
          <p:nvPr/>
        </p:nvSpPr>
        <p:spPr>
          <a:xfrm>
            <a:off x="6461150" y="2057400"/>
            <a:ext cx="2240280" cy="3931920"/>
          </a:xfrm>
          <a:prstGeom prst="rect">
            <a:avLst/>
          </a:prstGeom>
          <a:noFill/>
        </p:spPr>
        <p:txBody>
          <a:bodyPr wrap="square" lIns="0" rIns="0">
            <a:spAutoFit/>
          </a:bodyPr>
          <a:lstStyle/>
          <a:p>
            <a:pPr algn="ctr">
              <a:defRPr sz="1400" b="1">
                <a:solidFill>
                  <a:srgbClr val="1A3A5C"/>
                </a:solidFill>
              </a:defRPr>
            </a:pPr>
            <a:r>
              <a:t>Déploiement &amp; Diffusion</a:t>
            </a:r>
          </a:p>
          <a:p>
            <a:pPr>
              <a:spcBef>
                <a:spcPts val="800"/>
              </a:spcBef>
              <a:defRPr sz="1150" b="0">
                <a:solidFill>
                  <a:srgbClr val="2C3E50"/>
                </a:solidFill>
              </a:defRPr>
            </a:pPr>
            <a:r>
              <a:t>• Configuration des régies (Meta / TikTok)</a:t>
            </a:r>
          </a:p>
          <a:p>
            <a:pPr>
              <a:spcBef>
                <a:spcPts val="800"/>
              </a:spcBef>
              <a:defRPr sz="1150" b="0">
                <a:solidFill>
                  <a:srgbClr val="2C3E50"/>
                </a:solidFill>
              </a:defRPr>
            </a:pPr>
            <a:r>
              <a:t>• Publications organiques &amp; relations influenceurs</a:t>
            </a:r>
          </a:p>
          <a:p>
            <a:pPr>
              <a:spcBef>
                <a:spcPts val="800"/>
              </a:spcBef>
              <a:defRPr sz="1150" b="0">
                <a:solidFill>
                  <a:srgbClr val="2C3E50"/>
                </a:solidFill>
              </a:defRPr>
            </a:pPr>
            <a:r>
              <a:t>• Lancement officiel et monitoring direct</a:t>
            </a:r>
          </a:p>
          <a:p>
            <a:pPr>
              <a:spcBef>
                <a:spcPts val="800"/>
              </a:spcBef>
              <a:defRPr sz="1150" b="1">
                <a:solidFill>
                  <a:srgbClr val="0D9488"/>
                </a:solidFill>
              </a:defRPr>
            </a:pPr>
            <a:r>
              <a:t>◆ Jalon : Campagne lancée publiquement ◆</a:t>
            </a:r>
          </a:p>
        </p:txBody>
      </p:sp>
      <p:sp>
        <p:nvSpPr>
          <p:cNvPr id="17" name="Rounded Rectangle 16"/>
          <p:cNvSpPr/>
          <p:nvPr/>
        </p:nvSpPr>
        <p:spPr>
          <a:xfrm>
            <a:off x="9051645" y="1371600"/>
            <a:ext cx="260604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34525" y="1554480"/>
            <a:ext cx="2240280" cy="411480"/>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PHASE 4</a:t>
            </a:r>
          </a:p>
        </p:txBody>
      </p:sp>
      <p:sp>
        <p:nvSpPr>
          <p:cNvPr id="19" name="TextBox 18"/>
          <p:cNvSpPr txBox="1"/>
          <p:nvPr/>
        </p:nvSpPr>
        <p:spPr>
          <a:xfrm>
            <a:off x="9234525" y="2057400"/>
            <a:ext cx="2240280" cy="3931920"/>
          </a:xfrm>
          <a:prstGeom prst="rect">
            <a:avLst/>
          </a:prstGeom>
          <a:noFill/>
        </p:spPr>
        <p:txBody>
          <a:bodyPr wrap="square" lIns="0" rIns="0">
            <a:spAutoFit/>
          </a:bodyPr>
          <a:lstStyle/>
          <a:p>
            <a:pPr algn="ctr">
              <a:defRPr sz="1400" b="1">
                <a:solidFill>
                  <a:srgbClr val="1A3A5C"/>
                </a:solidFill>
              </a:defRPr>
            </a:pPr>
            <a:r>
              <a:t>Analyse &amp; Optimisation</a:t>
            </a:r>
          </a:p>
          <a:p>
            <a:pPr>
              <a:spcBef>
                <a:spcPts val="800"/>
              </a:spcBef>
              <a:defRPr sz="1150" b="0">
                <a:solidFill>
                  <a:srgbClr val="2C3E50"/>
                </a:solidFill>
              </a:defRPr>
            </a:pPr>
            <a:r>
              <a:t>• Suivi quotidien des métriques clés (KPIs)</a:t>
            </a:r>
          </a:p>
          <a:p>
            <a:pPr>
              <a:spcBef>
                <a:spcPts val="800"/>
              </a:spcBef>
              <a:defRPr sz="1150" b="0">
                <a:solidFill>
                  <a:srgbClr val="2C3E50"/>
                </a:solidFill>
              </a:defRPr>
            </a:pPr>
            <a:r>
              <a:t>• Ajustement des enchères et des visuels</a:t>
            </a:r>
          </a:p>
          <a:p>
            <a:pPr>
              <a:spcBef>
                <a:spcPts val="800"/>
              </a:spcBef>
              <a:defRPr sz="1150" b="0">
                <a:solidFill>
                  <a:srgbClr val="2C3E50"/>
                </a:solidFill>
              </a:defRPr>
            </a:pPr>
            <a:r>
              <a:t>• Rapport de clôture &amp; bilan financier (ROI)</a:t>
            </a:r>
          </a:p>
          <a:p>
            <a:pPr>
              <a:spcBef>
                <a:spcPts val="800"/>
              </a:spcBef>
              <a:defRPr sz="1150" b="1">
                <a:solidFill>
                  <a:srgbClr val="E8912D"/>
                </a:solidFill>
              </a:defRPr>
            </a:pPr>
            <a:r>
              <a:t>◆ Jalon : Bilan de campagne remis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Étape 1 : Lister et calibrer ses tâches (La Granularité)</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10/22</a:t>
            </a:r>
          </a:p>
        </p:txBody>
      </p:sp>
      <p:sp>
        <p:nvSpPr>
          <p:cNvPr id="8" name="Rounded Rectangle 7"/>
          <p:cNvSpPr/>
          <p:nvPr/>
        </p:nvSpPr>
        <p:spPr>
          <a:xfrm>
            <a:off x="731520" y="1371600"/>
            <a:ext cx="51206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700" b="1">
                <a:solidFill>
                  <a:srgbClr val="1A3A5C"/>
                </a:solidFill>
              </a:defRPr>
            </a:pPr>
            <a:r>
              <a:t>⚖️ Le Dilemme du Calibrage</a:t>
            </a:r>
          </a:p>
          <a:p>
            <a:pPr>
              <a:spcBef>
                <a:spcPts val="600"/>
              </a:spcBef>
              <a:defRPr sz="1300">
                <a:solidFill>
                  <a:srgbClr val="2C3E50"/>
                </a:solidFill>
              </a:defRPr>
            </a:pPr>
            <a:r>
              <a:t>La granularité désigne le niveau de détail de votre planning. Deux pièges opposés vous guettent :</a:t>
            </a:r>
          </a:p>
          <a:p>
            <a:pPr>
              <a:spcBef>
                <a:spcPts val="1000"/>
              </a:spcBef>
              <a:defRPr sz="1200">
                <a:solidFill>
                  <a:srgbClr val="D9534F"/>
                </a:solidFill>
              </a:defRPr>
            </a:pPr>
            <a:r>
              <a:t>❌ Piège 1 : Le Planning Macro (Trop vague)</a:t>
            </a:r>
            <a:br/>
            <a:r>
              <a:t>Mettre une seule tâche : « Faire le marketing » (durée 2 mois). C'est inutile, invérifiable et impossible à piloter.</a:t>
            </a:r>
          </a:p>
          <a:p>
            <a:pPr>
              <a:spcBef>
                <a:spcPts val="1000"/>
              </a:spcBef>
              <a:defRPr sz="1200">
                <a:solidFill>
                  <a:srgbClr val="D9534F"/>
                </a:solidFill>
              </a:defRPr>
            </a:pPr>
            <a:r>
              <a:t>❌ Piège 2 : Le Planning Micro (Usine à gaz)</a:t>
            </a:r>
            <a:br/>
            <a:r>
              <a:t>Mettre des micro-actions de 15 minutes : « Ouvrir Google Docs », « Envoyer un email de test ». Vous passerez plus de temps à mettre à jour votre planning qu'à travailler !</a:t>
            </a:r>
          </a:p>
          <a:p>
            <a:pPr>
              <a:spcBef>
                <a:spcPts val="1000"/>
              </a:spcBef>
              <a:defRPr sz="1300" b="1">
                <a:solidFill>
                  <a:srgbClr val="0D9488"/>
                </a:solidFill>
              </a:defRPr>
            </a:pPr>
            <a:r>
              <a:t>✅ La Bonne Mesure D-CLIC :</a:t>
            </a:r>
            <a:br/>
            <a:r>
              <a:t>Des tâches de 1 à 5 jours ouvrés. Entre 15 et 25 tâches au total pour une campagne complète.</a:t>
            </a:r>
          </a:p>
        </p:txBody>
      </p:sp>
      <p:sp>
        <p:nvSpPr>
          <p:cNvPr id="9" name="Rounded Rectangle 8"/>
          <p:cNvSpPr/>
          <p:nvPr/>
        </p:nvSpPr>
        <p:spPr>
          <a:xfrm>
            <a:off x="6339535" y="1371600"/>
            <a:ext cx="512064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700" b="1">
                <a:solidFill>
                  <a:srgbClr val="1E88E5"/>
                </a:solidFill>
              </a:defRPr>
            </a:pPr>
            <a:r>
              <a:t>✍️ La Formule Magique d'une Bonne Tâche</a:t>
            </a:r>
          </a:p>
          <a:p>
            <a:pPr>
              <a:spcBef>
                <a:spcPts val="600"/>
              </a:spcBef>
              <a:defRPr sz="1300">
                <a:solidFill>
                  <a:srgbClr val="2C3E50"/>
                </a:solidFill>
              </a:defRPr>
            </a:pPr>
            <a:r>
              <a:t>Une tâche bien formulée contient TOUJOURS 3 ingrédients :</a:t>
            </a:r>
          </a:p>
          <a:p>
            <a:pPr>
              <a:spcBef>
                <a:spcPts val="1000"/>
              </a:spcBef>
              <a:defRPr sz="1300" b="1">
                <a:solidFill>
                  <a:srgbClr val="1A3A5C"/>
                </a:solidFill>
              </a:defRPr>
            </a:pPr>
            <a:r>
              <a:t>• 1. Un verbe d'action à l'infinitif :</a:t>
            </a:r>
          </a:p>
          <a:p>
            <a:pPr>
              <a:defRPr sz="1200">
                <a:solidFill>
                  <a:srgbClr val="2C3E50"/>
                </a:solidFill>
              </a:defRPr>
            </a:pPr>
            <a:r>
              <a:t>   Rédiger, Concevoir, Tourner, Paramétrer, Valider (pas de noms vagues comme « Vidéo » ou « Réunion »).</a:t>
            </a:r>
          </a:p>
          <a:p>
            <a:pPr>
              <a:spcBef>
                <a:spcPts val="1000"/>
              </a:spcBef>
              <a:defRPr sz="1300" b="1">
                <a:solidFill>
                  <a:srgbClr val="1A3A5C"/>
                </a:solidFill>
              </a:defRPr>
            </a:pPr>
            <a:r>
              <a:t>• 2. Un livrable explicite :</a:t>
            </a:r>
          </a:p>
          <a:p>
            <a:pPr>
              <a:defRPr sz="1200">
                <a:solidFill>
                  <a:srgbClr val="2C3E50"/>
                </a:solidFill>
              </a:defRPr>
            </a:pPr>
            <a:r>
              <a:t>   Ce qui existe physiquement ou numériquement quand c'est fini (ex : « 1 flyer au format A5 validé »).</a:t>
            </a:r>
          </a:p>
          <a:p>
            <a:pPr>
              <a:spcBef>
                <a:spcPts val="1000"/>
              </a:spcBef>
              <a:defRPr sz="1300" b="1">
                <a:solidFill>
                  <a:srgbClr val="1A3A5C"/>
                </a:solidFill>
              </a:defRPr>
            </a:pPr>
            <a:r>
              <a:t>• 3. Une condition d'achèvement binaire :</a:t>
            </a:r>
          </a:p>
          <a:p>
            <a:pPr>
              <a:defRPr sz="1200">
                <a:solidFill>
                  <a:srgbClr val="2C3E50"/>
                </a:solidFill>
              </a:defRPr>
            </a:pPr>
            <a:r>
              <a:t>   On doit pouvoir répondre par OUI ou par NON sans ambiguïté : « Est-ce terminé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Étape 2 : Ordonnancer et créer les dépendances</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11/22</a:t>
            </a:r>
          </a:p>
        </p:txBody>
      </p:sp>
      <p:sp>
        <p:nvSpPr>
          <p:cNvPr id="8" name="Rounded Rectangle 7"/>
          <p:cNvSpPr/>
          <p:nvPr/>
        </p:nvSpPr>
        <p:spPr>
          <a:xfrm>
            <a:off x="731520" y="1371600"/>
            <a:ext cx="10728655" cy="128016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600" b="1">
                <a:solidFill>
                  <a:srgbClr val="1A3A5C"/>
                </a:solidFill>
              </a:defRPr>
            </a:pPr>
            <a:r>
              <a:t>🔗 La Matrice des Antécédents : Deux questions à poser systématiquement</a:t>
            </a:r>
          </a:p>
          <a:p>
            <a:pPr>
              <a:spcBef>
                <a:spcPts val="600"/>
              </a:spcBef>
              <a:defRPr sz="1300">
                <a:solidFill>
                  <a:srgbClr val="2C3E50"/>
                </a:solidFill>
              </a:defRPr>
            </a:pPr>
            <a:r>
              <a:t>Pour chaque tâche identifiée dans votre WBS, vous devez vous poser deux questions indispensables :</a:t>
            </a:r>
            <a:br/>
            <a:r>
              <a:t>1. « Quelle(s) tâche(s) dois-je OBLIGATOIREMENT terminer avant de pouvoir commencer celle-ci ? » (Antécédent direct)</a:t>
            </a:r>
            <a:br/>
            <a:r>
              <a:t>2. « Quelles tâches peuvent se dérouler EN MÊME TEMPS sans se bloquer ? » (Tâches parallèles)</a:t>
            </a:r>
          </a:p>
        </p:txBody>
      </p:sp>
      <p:sp>
        <p:nvSpPr>
          <p:cNvPr id="9" name="Rounded Rectangle 8"/>
          <p:cNvSpPr/>
          <p:nvPr/>
        </p:nvSpPr>
        <p:spPr>
          <a:xfrm>
            <a:off x="731520" y="2834640"/>
            <a:ext cx="10728655" cy="32918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914400" y="3017520"/>
          <a:ext cx="10362895" cy="2926080"/>
        </p:xfrm>
        <a:graphic>
          <a:graphicData uri="http://schemas.openxmlformats.org/drawingml/2006/table">
            <a:tbl>
              <a:tblPr firstRow="1" bandRow="1">
                <a:tableStyleId>{5C22544A-7EE6-4342-B048-85BDC9FD1C3A}</a:tableStyleId>
              </a:tblPr>
              <a:tblGrid>
                <a:gridCol w="1371600"/>
                <a:gridCol w="4114800"/>
                <a:gridCol w="2011680"/>
                <a:gridCol w="2864815"/>
              </a:tblGrid>
              <a:tr h="585216">
                <a:tc>
                  <a:txBody>
                    <a:bodyPr/>
                    <a:lstStyle/>
                    <a:p>
                      <a:pPr>
                        <a:defRPr sz="1200" b="1">
                          <a:solidFill>
                            <a:srgbClr val="FFFFFF"/>
                          </a:solidFill>
                        </a:defRPr>
                      </a:pPr>
                      <a:r>
                        <a:t>Code</a:t>
                      </a:r>
                    </a:p>
                  </a:txBody>
                  <a:tcPr>
                    <a:solidFill>
                      <a:srgbClr val="1A3A5C"/>
                    </a:solidFill>
                  </a:tcPr>
                </a:tc>
                <a:tc>
                  <a:txBody>
                    <a:bodyPr/>
                    <a:lstStyle/>
                    <a:p>
                      <a:pPr>
                        <a:defRPr sz="1200" b="1">
                          <a:solidFill>
                            <a:srgbClr val="FFFFFF"/>
                          </a:solidFill>
                        </a:defRPr>
                      </a:pPr>
                      <a:r>
                        <a:t>Intitulé de la Tâche</a:t>
                      </a:r>
                    </a:p>
                  </a:txBody>
                  <a:tcPr>
                    <a:solidFill>
                      <a:srgbClr val="1A3A5C"/>
                    </a:solidFill>
                  </a:tcPr>
                </a:tc>
                <a:tc>
                  <a:txBody>
                    <a:bodyPr/>
                    <a:lstStyle/>
                    <a:p>
                      <a:pPr>
                        <a:defRPr sz="1200" b="1">
                          <a:solidFill>
                            <a:srgbClr val="FFFFFF"/>
                          </a:solidFill>
                        </a:defRPr>
                      </a:pPr>
                      <a:r>
                        <a:t>Antécédent(s)</a:t>
                      </a:r>
                    </a:p>
                  </a:txBody>
                  <a:tcPr>
                    <a:solidFill>
                      <a:srgbClr val="1A3A5C"/>
                    </a:solidFill>
                  </a:tcPr>
                </a:tc>
                <a:tc>
                  <a:txBody>
                    <a:bodyPr/>
                    <a:lstStyle/>
                    <a:p>
                      <a:pPr>
                        <a:defRPr sz="1200" b="1">
                          <a:solidFill>
                            <a:srgbClr val="FFFFFF"/>
                          </a:solidFill>
                        </a:defRPr>
                      </a:pPr>
                      <a:r>
                        <a:t>Type d'Enchaînement</a:t>
                      </a:r>
                    </a:p>
                  </a:txBody>
                  <a:tcPr>
                    <a:solidFill>
                      <a:srgbClr val="1A3A5C"/>
                    </a:solidFill>
                  </a:tcPr>
                </a:tc>
              </a:tr>
              <a:tr h="585216">
                <a:tc>
                  <a:txBody>
                    <a:bodyPr/>
                    <a:lstStyle/>
                    <a:p>
                      <a:pPr>
                        <a:defRPr sz="1150" b="1">
                          <a:solidFill>
                            <a:srgbClr val="0D9488"/>
                          </a:solidFill>
                        </a:defRPr>
                      </a:pPr>
                      <a:r>
                        <a:t>T1</a:t>
                      </a:r>
                    </a:p>
                  </a:txBody>
                  <a:tcPr>
                    <a:solidFill>
                      <a:srgbClr val="F5F7FA"/>
                    </a:solidFill>
                  </a:tcPr>
                </a:tc>
                <a:tc>
                  <a:txBody>
                    <a:bodyPr/>
                    <a:lstStyle/>
                    <a:p>
                      <a:pPr>
                        <a:defRPr sz="1150">
                          <a:solidFill>
                            <a:srgbClr val="2C3E50"/>
                          </a:solidFill>
                        </a:defRPr>
                      </a:pPr>
                      <a:r>
                        <a:t>Rédaction du script vidéo et brief visuel</a:t>
                      </a:r>
                    </a:p>
                  </a:txBody>
                  <a:tcPr>
                    <a:solidFill>
                      <a:srgbClr val="F5F7FA"/>
                    </a:solidFill>
                  </a:tcPr>
                </a:tc>
                <a:tc>
                  <a:txBody>
                    <a:bodyPr/>
                    <a:lstStyle/>
                    <a:p>
                      <a:pPr>
                        <a:defRPr sz="1150">
                          <a:solidFill>
                            <a:srgbClr val="2C3E50"/>
                          </a:solidFill>
                        </a:defRPr>
                      </a:pPr>
                      <a:r>
                        <a:t>— (Démarrage)</a:t>
                      </a:r>
                    </a:p>
                  </a:txBody>
                  <a:tcPr>
                    <a:solidFill>
                      <a:srgbClr val="F5F7FA"/>
                    </a:solidFill>
                  </a:tcPr>
                </a:tc>
                <a:tc>
                  <a:txBody>
                    <a:bodyPr/>
                    <a:lstStyle/>
                    <a:p>
                      <a:pPr>
                        <a:defRPr sz="1150">
                          <a:solidFill>
                            <a:srgbClr val="2C3E50"/>
                          </a:solidFill>
                        </a:defRPr>
                      </a:pPr>
                      <a:r>
                        <a:t>Tâche initiale</a:t>
                      </a:r>
                    </a:p>
                  </a:txBody>
                  <a:tcPr>
                    <a:solidFill>
                      <a:srgbClr val="F5F7FA"/>
                    </a:solidFill>
                  </a:tcPr>
                </a:tc>
              </a:tr>
              <a:tr h="585216">
                <a:tc>
                  <a:txBody>
                    <a:bodyPr/>
                    <a:lstStyle/>
                    <a:p>
                      <a:pPr>
                        <a:defRPr sz="1150" b="1">
                          <a:solidFill>
                            <a:srgbClr val="0D9488"/>
                          </a:solidFill>
                        </a:defRPr>
                      </a:pPr>
                      <a:r>
                        <a:t>T2</a:t>
                      </a:r>
                    </a:p>
                  </a:txBody>
                  <a:tcPr>
                    <a:solidFill>
                      <a:srgbClr val="FFFFFF"/>
                    </a:solidFill>
                  </a:tcPr>
                </a:tc>
                <a:tc>
                  <a:txBody>
                    <a:bodyPr/>
                    <a:lstStyle/>
                    <a:p>
                      <a:pPr>
                        <a:defRPr sz="1150">
                          <a:solidFill>
                            <a:srgbClr val="2C3E50"/>
                          </a:solidFill>
                        </a:defRPr>
                      </a:pPr>
                      <a:r>
                        <a:t>Tournage de la vidéo promotionnelle</a:t>
                      </a:r>
                    </a:p>
                  </a:txBody>
                  <a:tcPr>
                    <a:solidFill>
                      <a:srgbClr val="FFFFFF"/>
                    </a:solidFill>
                  </a:tcPr>
                </a:tc>
                <a:tc>
                  <a:txBody>
                    <a:bodyPr/>
                    <a:lstStyle/>
                    <a:p>
                      <a:pPr>
                        <a:defRPr sz="1150">
                          <a:solidFill>
                            <a:srgbClr val="2C3E50"/>
                          </a:solidFill>
                        </a:defRPr>
                      </a:pPr>
                      <a:r>
                        <a:t>T1</a:t>
                      </a:r>
                    </a:p>
                  </a:txBody>
                  <a:tcPr>
                    <a:solidFill>
                      <a:srgbClr val="FFFFFF"/>
                    </a:solidFill>
                  </a:tcPr>
                </a:tc>
                <a:tc>
                  <a:txBody>
                    <a:bodyPr/>
                    <a:lstStyle/>
                    <a:p>
                      <a:pPr>
                        <a:defRPr sz="1150">
                          <a:solidFill>
                            <a:srgbClr val="2C3E50"/>
                          </a:solidFill>
                        </a:defRPr>
                      </a:pPr>
                      <a:r>
                        <a:t>Fin-à-Début (FD)</a:t>
                      </a:r>
                    </a:p>
                  </a:txBody>
                  <a:tcPr>
                    <a:solidFill>
                      <a:srgbClr val="FFFFFF"/>
                    </a:solidFill>
                  </a:tcPr>
                </a:tc>
              </a:tr>
              <a:tr h="585216">
                <a:tc>
                  <a:txBody>
                    <a:bodyPr/>
                    <a:lstStyle/>
                    <a:p>
                      <a:pPr>
                        <a:defRPr sz="1150" b="1">
                          <a:solidFill>
                            <a:srgbClr val="0D9488"/>
                          </a:solidFill>
                        </a:defRPr>
                      </a:pPr>
                      <a:r>
                        <a:t>T3</a:t>
                      </a:r>
                    </a:p>
                  </a:txBody>
                  <a:tcPr>
                    <a:solidFill>
                      <a:srgbClr val="F5F7FA"/>
                    </a:solidFill>
                  </a:tcPr>
                </a:tc>
                <a:tc>
                  <a:txBody>
                    <a:bodyPr/>
                    <a:lstStyle/>
                    <a:p>
                      <a:pPr>
                        <a:defRPr sz="1150">
                          <a:solidFill>
                            <a:srgbClr val="2C3E50"/>
                          </a:solidFill>
                        </a:defRPr>
                      </a:pPr>
                      <a:r>
                        <a:t>Création graphique du flyer promotionnel</a:t>
                      </a:r>
                    </a:p>
                  </a:txBody>
                  <a:tcPr>
                    <a:solidFill>
                      <a:srgbClr val="F5F7FA"/>
                    </a:solidFill>
                  </a:tcPr>
                </a:tc>
                <a:tc>
                  <a:txBody>
                    <a:bodyPr/>
                    <a:lstStyle/>
                    <a:p>
                      <a:pPr>
                        <a:defRPr sz="1150">
                          <a:solidFill>
                            <a:srgbClr val="2C3E50"/>
                          </a:solidFill>
                        </a:defRPr>
                      </a:pPr>
                      <a:r>
                        <a:t>T1</a:t>
                      </a:r>
                    </a:p>
                  </a:txBody>
                  <a:tcPr>
                    <a:solidFill>
                      <a:srgbClr val="F5F7FA"/>
                    </a:solidFill>
                  </a:tcPr>
                </a:tc>
                <a:tc>
                  <a:txBody>
                    <a:bodyPr/>
                    <a:lstStyle/>
                    <a:p>
                      <a:pPr>
                        <a:defRPr sz="1150">
                          <a:solidFill>
                            <a:srgbClr val="2C3E50"/>
                          </a:solidFill>
                        </a:defRPr>
                      </a:pPr>
                      <a:r>
                        <a:t>Parallèle avec T2 (même antécédent T1)</a:t>
                      </a:r>
                    </a:p>
                  </a:txBody>
                  <a:tcPr>
                    <a:solidFill>
                      <a:srgbClr val="F5F7FA"/>
                    </a:solidFill>
                  </a:tcPr>
                </a:tc>
              </a:tr>
              <a:tr h="585216">
                <a:tc>
                  <a:txBody>
                    <a:bodyPr/>
                    <a:lstStyle/>
                    <a:p>
                      <a:pPr>
                        <a:defRPr sz="1150" b="1">
                          <a:solidFill>
                            <a:srgbClr val="0D9488"/>
                          </a:solidFill>
                        </a:defRPr>
                      </a:pPr>
                      <a:r>
                        <a:t>T4</a:t>
                      </a:r>
                    </a:p>
                  </a:txBody>
                  <a:tcPr>
                    <a:solidFill>
                      <a:srgbClr val="FFFFFF"/>
                    </a:solidFill>
                  </a:tcPr>
                </a:tc>
                <a:tc>
                  <a:txBody>
                    <a:bodyPr/>
                    <a:lstStyle/>
                    <a:p>
                      <a:pPr>
                        <a:defRPr sz="1150">
                          <a:solidFill>
                            <a:srgbClr val="2C3E50"/>
                          </a:solidFill>
                        </a:defRPr>
                      </a:pPr>
                      <a:r>
                        <a:t>Paramétrage et lancement Meta Ads</a:t>
                      </a:r>
                    </a:p>
                  </a:txBody>
                  <a:tcPr>
                    <a:solidFill>
                      <a:srgbClr val="FFFFFF"/>
                    </a:solidFill>
                  </a:tcPr>
                </a:tc>
                <a:tc>
                  <a:txBody>
                    <a:bodyPr/>
                    <a:lstStyle/>
                    <a:p>
                      <a:pPr>
                        <a:defRPr sz="1150">
                          <a:solidFill>
                            <a:srgbClr val="2C3E50"/>
                          </a:solidFill>
                        </a:defRPr>
                      </a:pPr>
                      <a:r>
                        <a:t>T2, T3 (validés)</a:t>
                      </a:r>
                    </a:p>
                  </a:txBody>
                  <a:tcPr>
                    <a:solidFill>
                      <a:srgbClr val="FFFFFF"/>
                    </a:solidFill>
                  </a:tcPr>
                </a:tc>
                <a:tc>
                  <a:txBody>
                    <a:bodyPr/>
                    <a:lstStyle/>
                    <a:p>
                      <a:pPr>
                        <a:defRPr sz="1150">
                          <a:solidFill>
                            <a:srgbClr val="2C3E50"/>
                          </a:solidFill>
                        </a:defRPr>
                      </a:pPr>
                      <a:r>
                        <a:t>Fin-à-Début (Attend la fin de T2 ET T3)</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Étape 3 : Estimer les durées réalistes &amp; les marges</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12/22</a:t>
            </a:r>
          </a:p>
        </p:txBody>
      </p:sp>
      <p:sp>
        <p:nvSpPr>
          <p:cNvPr id="8" name="Rounded Rectangle 7"/>
          <p:cNvSpPr/>
          <p:nvPr/>
        </p:nvSpPr>
        <p:spPr>
          <a:xfrm>
            <a:off x="731520" y="1371600"/>
            <a:ext cx="32918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D9534F"/>
                </a:solidFill>
              </a:defRPr>
            </a:pPr>
            <a:r>
              <a:t>🧠 Le Biais d'Optimisme</a:t>
            </a:r>
          </a:p>
          <a:p>
            <a:pPr>
              <a:spcBef>
                <a:spcPts val="1000"/>
              </a:spcBef>
              <a:defRPr sz="1250">
                <a:solidFill>
                  <a:srgbClr val="2C3E50"/>
                </a:solidFill>
              </a:defRPr>
            </a:pPr>
            <a:r>
              <a:t>• « Ça me prendra 2 heures ! »</a:t>
            </a:r>
            <a:br/>
            <a:r>
              <a:t>• En réalité, on oublie :</a:t>
            </a:r>
            <a:br/>
            <a:r>
              <a:t>  - Le temps de recherche d'idées.</a:t>
            </a:r>
            <a:br/>
            <a:r>
              <a:t>  - Les bugs techniques (logiciel qui plante, coupure Internet).</a:t>
            </a:r>
            <a:br/>
            <a:r>
              <a:t>  - Les interruptions quotidiennes.</a:t>
            </a:r>
            <a:br/>
            <a:r>
              <a:t>• Règle d'or : Multipliez toujours votre première estimation par 1,5.</a:t>
            </a:r>
          </a:p>
        </p:txBody>
      </p:sp>
      <p:sp>
        <p:nvSpPr>
          <p:cNvPr id="9" name="Rounded Rectangle 8"/>
          <p:cNvSpPr/>
          <p:nvPr/>
        </p:nvSpPr>
        <p:spPr>
          <a:xfrm>
            <a:off x="4449470" y="1371600"/>
            <a:ext cx="329184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E8912D"/>
                </a:solidFill>
              </a:defRPr>
            </a:pPr>
            <a:r>
              <a:t>⏳ La Loi de Parkinson</a:t>
            </a:r>
          </a:p>
          <a:p>
            <a:pPr>
              <a:spcBef>
                <a:spcPts val="1000"/>
              </a:spcBef>
              <a:defRPr sz="1250">
                <a:solidFill>
                  <a:srgbClr val="2C3E50"/>
                </a:solidFill>
              </a:defRPr>
            </a:pPr>
            <a:r>
              <a:t>• « Tout travail s'étale de façon à occuper tout le temps disponible pour son achèvement. »</a:t>
            </a:r>
            <a:br/>
            <a:r>
              <a:t>• Si vous donnez 3 semaines à un graphiste pour faire un flyer, il le fera les 2 derniers jours !</a:t>
            </a:r>
            <a:br/>
            <a:r>
              <a:t>• Solution : Fixer des échéances courtes et des jalons intermédiaires réguliers.</a:t>
            </a:r>
          </a:p>
        </p:txBody>
      </p:sp>
      <p:sp>
        <p:nvSpPr>
          <p:cNvPr id="10" name="Rounded Rectangle 9"/>
          <p:cNvSpPr/>
          <p:nvPr/>
        </p:nvSpPr>
        <p:spPr>
          <a:xfrm>
            <a:off x="8168335" y="1371600"/>
            <a:ext cx="32918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28600" rIns="228600" tIns="274320"/>
          <a:lstStyle/>
          <a:p>
            <a:pPr algn="ctr">
              <a:defRPr sz="1600" b="1">
                <a:solidFill>
                  <a:srgbClr val="0D9488"/>
                </a:solidFill>
              </a:defRPr>
            </a:pPr>
            <a:r>
              <a:t>🛡️ Intégrer les Validations</a:t>
            </a:r>
          </a:p>
          <a:p>
            <a:pPr>
              <a:spcBef>
                <a:spcPts val="1000"/>
              </a:spcBef>
              <a:defRPr sz="1250">
                <a:solidFill>
                  <a:srgbClr val="2C3E50"/>
                </a:solidFill>
              </a:defRPr>
            </a:pPr>
            <a:r>
              <a:t>• L'oubli fatal en marketing digital : croire que dès qu'un visuel est fini, il est publié le soir même.</a:t>
            </a:r>
            <a:br/>
            <a:r>
              <a:t>• Il faut prévoir le délai de validation du client / tuteur (24 à 48h).</a:t>
            </a:r>
            <a:br/>
            <a:r>
              <a:t>• Il faut prévoir le délai de validation des publicités par Meta ou TikTok (24h).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Étape 4 : Affecter les Ressources Humaines (RH)</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13/22</a:t>
            </a:r>
          </a:p>
        </p:txBody>
      </p:sp>
      <p:sp>
        <p:nvSpPr>
          <p:cNvPr id="8" name="Rounded Rectangle 7"/>
          <p:cNvSpPr/>
          <p:nvPr/>
        </p:nvSpPr>
        <p:spPr>
          <a:xfrm>
            <a:off x="731520" y="1371600"/>
            <a:ext cx="548640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A3A5C"/>
                </a:solidFill>
              </a:defRPr>
            </a:pPr>
            <a:r>
              <a:t>👥 Les Profils Métiers Clés en Marketing Digital</a:t>
            </a:r>
          </a:p>
          <a:p>
            <a:pPr>
              <a:spcBef>
                <a:spcPts val="600"/>
              </a:spcBef>
              <a:defRPr sz="1250">
                <a:solidFill>
                  <a:srgbClr val="2C3E50"/>
                </a:solidFill>
              </a:defRPr>
            </a:pPr>
            <a:r>
              <a:t>Votre Livrable PP2 exige d'identifier les RH associées à chaque tâche. Ne mettez pas « Quelqu'un », utilisez les vrais métiers étudiés en Séquence 1 &amp; 2 :</a:t>
            </a:r>
          </a:p>
          <a:p>
            <a:pPr>
              <a:spcBef>
                <a:spcPts val="600"/>
              </a:spcBef>
              <a:defRPr sz="1200" b="1">
                <a:solidFill>
                  <a:srgbClr val="0D9488"/>
                </a:solidFill>
              </a:defRPr>
            </a:pPr>
            <a:r>
              <a:t>• Chef de Projet Digital :</a:t>
            </a:r>
          </a:p>
          <a:p>
            <a:pPr>
              <a:defRPr sz="1100">
                <a:solidFill>
                  <a:srgbClr val="2C3E50"/>
                </a:solidFill>
              </a:defRPr>
            </a:pPr>
            <a:r>
              <a:t>   Coordination globale, respect des délais, gestion du budget et interface client.</a:t>
            </a:r>
          </a:p>
          <a:p>
            <a:pPr>
              <a:spcBef>
                <a:spcPts val="600"/>
              </a:spcBef>
              <a:defRPr sz="1200" b="1">
                <a:solidFill>
                  <a:srgbClr val="0D9488"/>
                </a:solidFill>
              </a:defRPr>
            </a:pPr>
            <a:r>
              <a:t>• Concepteur-Rédacteur / Copywriter :</a:t>
            </a:r>
          </a:p>
          <a:p>
            <a:pPr>
              <a:defRPr sz="1100">
                <a:solidFill>
                  <a:srgbClr val="2C3E50"/>
                </a:solidFill>
              </a:defRPr>
            </a:pPr>
            <a:r>
              <a:t>   Rédaction des messages, scripts vidéos, argumentaires de vente, posts sociaux.</a:t>
            </a:r>
          </a:p>
          <a:p>
            <a:pPr>
              <a:spcBef>
                <a:spcPts val="600"/>
              </a:spcBef>
              <a:defRPr sz="1200" b="1">
                <a:solidFill>
                  <a:srgbClr val="0D9488"/>
                </a:solidFill>
              </a:defRPr>
            </a:pPr>
            <a:r>
              <a:t>• Graphiste / Designer Visuel :</a:t>
            </a:r>
          </a:p>
          <a:p>
            <a:pPr>
              <a:defRPr sz="1100">
                <a:solidFill>
                  <a:srgbClr val="2C3E50"/>
                </a:solidFill>
              </a:defRPr>
            </a:pPr>
            <a:r>
              <a:t>   Identité graphique, création des flyers, bannières, formats carrousel.</a:t>
            </a:r>
          </a:p>
          <a:p>
            <a:pPr>
              <a:spcBef>
                <a:spcPts val="600"/>
              </a:spcBef>
              <a:defRPr sz="1200" b="1">
                <a:solidFill>
                  <a:srgbClr val="0D9488"/>
                </a:solidFill>
              </a:defRPr>
            </a:pPr>
            <a:r>
              <a:t>• Vidéaste / Monteur Vidéo :</a:t>
            </a:r>
          </a:p>
          <a:p>
            <a:pPr>
              <a:defRPr sz="1100">
                <a:solidFill>
                  <a:srgbClr val="2C3E50"/>
                </a:solidFill>
              </a:defRPr>
            </a:pPr>
            <a:r>
              <a:t>   Captation, cadrage, montage dynamique des vidéos courtes (Reels/TikTok).</a:t>
            </a:r>
          </a:p>
          <a:p>
            <a:pPr>
              <a:spcBef>
                <a:spcPts val="600"/>
              </a:spcBef>
              <a:defRPr sz="1200" b="1">
                <a:solidFill>
                  <a:srgbClr val="0D9488"/>
                </a:solidFill>
              </a:defRPr>
            </a:pPr>
            <a:r>
              <a:t>• Traffic Manager / Media Buyer :</a:t>
            </a:r>
          </a:p>
          <a:p>
            <a:pPr>
              <a:defRPr sz="1100">
                <a:solidFill>
                  <a:srgbClr val="2C3E50"/>
                </a:solidFill>
              </a:defRPr>
            </a:pPr>
            <a:r>
              <a:t>   Paramétrage régies publicitaires (Meta Ads, Google Ads), ciblage, tracking.</a:t>
            </a:r>
          </a:p>
        </p:txBody>
      </p:sp>
      <p:sp>
        <p:nvSpPr>
          <p:cNvPr id="9" name="Rounded Rectangle 8"/>
          <p:cNvSpPr/>
          <p:nvPr/>
        </p:nvSpPr>
        <p:spPr>
          <a:xfrm>
            <a:off x="6522415" y="1371600"/>
            <a:ext cx="493776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E88E5"/>
                </a:solidFill>
              </a:defRPr>
            </a:pPr>
            <a:r>
              <a:t>🏷️ La Logique RACI Simplifiée</a:t>
            </a:r>
          </a:p>
          <a:p>
            <a:pPr>
              <a:spcBef>
                <a:spcPts val="800"/>
              </a:spcBef>
              <a:defRPr sz="1250">
                <a:solidFill>
                  <a:srgbClr val="2C3E50"/>
                </a:solidFill>
              </a:defRPr>
            </a:pPr>
            <a:r>
              <a:t>Pour éviter le flou (« quand tout le monde est responsable, personne n'est responsable ») :</a:t>
            </a:r>
            <a:br/>
            <a:br/>
            <a:r>
              <a:t>• R (Réalisateur) : La personne qui produit concrètement la tâche (ex : le graphiste crée le flyer).</a:t>
            </a:r>
            <a:br/>
            <a:br/>
            <a:r>
              <a:t>• A (Approbateur / Valideur) : Le responsable qui donne le feu vert final (ex : le Chef de Projet ou le Directeur Marketing).</a:t>
            </a:r>
            <a:br/>
            <a:br/>
            <a:r>
              <a:t>• C (Consulté) : L'expert qu'on sollicite pour avis technique.</a:t>
            </a:r>
            <a:br/>
            <a:br/>
            <a:r>
              <a:t>• I (Informé) : Les personnes tenues au courant de l'avancement.</a:t>
            </a:r>
          </a:p>
          <a:p>
            <a:pPr>
              <a:spcBef>
                <a:spcPts val="1200"/>
              </a:spcBef>
              <a:defRPr sz="1200" b="1">
                <a:solidFill>
                  <a:srgbClr val="D9534F"/>
                </a:solidFill>
              </a:defRPr>
            </a:pPr>
            <a:r>
              <a:t>⚠️ Règle d'or D-CLIC : Une tâche = UN SEUL Réalisateur principal clairement nommé sur votre planning Gantt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Escale 4 : Le Mariage Gantt &amp; Budget — Pourquoi et Comment ?</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14/22</a:t>
            </a:r>
          </a:p>
        </p:txBody>
      </p:sp>
      <p:sp>
        <p:nvSpPr>
          <p:cNvPr id="8" name="Rounded Rectangle 7"/>
          <p:cNvSpPr/>
          <p:nvPr/>
        </p:nvSpPr>
        <p:spPr>
          <a:xfrm>
            <a:off x="731520" y="1371600"/>
            <a:ext cx="10728655" cy="1188720"/>
          </a:xfrm>
          <a:prstGeom prst="roundRect">
            <a:avLst/>
          </a:prstGeom>
          <a:solidFill>
            <a:srgbClr val="1A3A5C"/>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400" b="1">
                <a:solidFill>
                  <a:srgbClr val="E8912D"/>
                </a:solidFill>
              </a:defRPr>
            </a:pPr>
            <a:r>
              <a:t>⚡ LE CONSTAT CRUCIAL :</a:t>
            </a:r>
          </a:p>
          <a:p>
            <a:pPr>
              <a:spcBef>
                <a:spcPts val="400"/>
              </a:spcBef>
              <a:defRPr sz="1800" b="1">
                <a:solidFill>
                  <a:srgbClr val="FFFFFF"/>
                </a:solidFill>
              </a:defRPr>
            </a:pPr>
            <a:r>
              <a:t>« Un planning sans budget est un rêve pieux. Un budget sans planning est une loterie. »</a:t>
            </a:r>
          </a:p>
        </p:txBody>
      </p:sp>
      <p:sp>
        <p:nvSpPr>
          <p:cNvPr id="9" name="Rounded Rectangle 8"/>
          <p:cNvSpPr/>
          <p:nvPr/>
        </p:nvSpPr>
        <p:spPr>
          <a:xfrm>
            <a:off x="731520" y="2743200"/>
            <a:ext cx="5120640" cy="3383280"/>
          </a:xfrm>
          <a:prstGeom prst="roundRect">
            <a:avLst/>
          </a:prstGeom>
          <a:solidFill>
            <a:srgbClr val="FFFFFF"/>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500" b="1">
                <a:solidFill>
                  <a:srgbClr val="D9534F"/>
                </a:solidFill>
              </a:defRPr>
            </a:pPr>
            <a:r>
              <a:t>❌ L'Erreur Fréquente : Le Budget « Hors-Sol »</a:t>
            </a:r>
          </a:p>
          <a:p>
            <a:pPr>
              <a:spcBef>
                <a:spcPts val="800"/>
              </a:spcBef>
              <a:defRPr sz="1250">
                <a:solidFill>
                  <a:srgbClr val="2C3E50"/>
                </a:solidFill>
              </a:defRPr>
            </a:pPr>
            <a:r>
              <a:t>• L'apprenant donne un chiffre global sorti du chapeau (ex : « Mon budget est de 1 000 000 FCFA »).</a:t>
            </a:r>
            <a:br/>
            <a:br/>
            <a:r>
              <a:t>• Problème : On ne sait pas d'où vient ce chiffre, comment il est calculé, ni à quel moment l'argent sera dépensé !</a:t>
            </a:r>
            <a:br/>
            <a:br/>
            <a:r>
              <a:t>• Conséquence : Sanctionné dans le Livrable PP2 (perte de points sur la faisabilité globale).</a:t>
            </a:r>
          </a:p>
        </p:txBody>
      </p:sp>
      <p:sp>
        <p:nvSpPr>
          <p:cNvPr id="10" name="Rounded Rectangle 9"/>
          <p:cNvSpPr/>
          <p:nvPr/>
        </p:nvSpPr>
        <p:spPr>
          <a:xfrm>
            <a:off x="6339535" y="2743200"/>
            <a:ext cx="5120640" cy="33832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500" b="1">
                <a:solidFill>
                  <a:srgbClr val="0D9488"/>
                </a:solidFill>
              </a:defRPr>
            </a:pPr>
            <a:r>
              <a:t>✅ La Démarche Professionnelle : Le Budget par Tâche</a:t>
            </a:r>
          </a:p>
          <a:p>
            <a:pPr>
              <a:spcBef>
                <a:spcPts val="800"/>
              </a:spcBef>
              <a:defRPr sz="1250">
                <a:solidFill>
                  <a:srgbClr val="2C3E50"/>
                </a:solidFill>
              </a:defRPr>
            </a:pPr>
            <a:r>
              <a:t>• Chaque ligne de votre Gantt se voit attribuer ses coûts directs (temps RH, outils consommés, achat média).</a:t>
            </a:r>
            <a:br/>
            <a:br/>
            <a:r>
              <a:t>• Le budget total devient la SOMME exacte de toutes vos tâches valorisées.</a:t>
            </a:r>
            <a:br/>
            <a:br/>
            <a:r>
              <a:t>• Résultat : Vous savez exactement combien coûte chaque phase, et surtout QUAND payer quoi (maîtrise du cash-flow).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Typologie des Coûts en Marketing Numérique</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15/22</a:t>
            </a:r>
          </a:p>
        </p:txBody>
      </p:sp>
      <p:sp>
        <p:nvSpPr>
          <p:cNvPr id="8" name="Rounded Rectangle 7"/>
          <p:cNvSpPr/>
          <p:nvPr/>
        </p:nvSpPr>
        <p:spPr>
          <a:xfrm>
            <a:off x="731520" y="1371600"/>
            <a:ext cx="2606040" cy="4754880"/>
          </a:xfrm>
          <a:prstGeom prst="round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554480"/>
            <a:ext cx="2331720" cy="45720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Coûts RH / Prestations</a:t>
            </a:r>
          </a:p>
        </p:txBody>
      </p:sp>
      <p:sp>
        <p:nvSpPr>
          <p:cNvPr id="10" name="TextBox 9"/>
          <p:cNvSpPr txBox="1"/>
          <p:nvPr/>
        </p:nvSpPr>
        <p:spPr>
          <a:xfrm>
            <a:off x="868680" y="2103120"/>
            <a:ext cx="2331720" cy="3840480"/>
          </a:xfrm>
          <a:prstGeom prst="rect">
            <a:avLst/>
          </a:prstGeom>
          <a:noFill/>
        </p:spPr>
        <p:txBody>
          <a:bodyPr wrap="square" lIns="0" rIns="0">
            <a:spAutoFit/>
          </a:bodyPr>
          <a:lstStyle/>
          <a:p>
            <a:pPr>
              <a:defRPr sz="1150">
                <a:solidFill>
                  <a:srgbClr val="2C3E50"/>
                </a:solidFill>
              </a:defRPr>
            </a:pPr>
            <a:r>
              <a:t>La rémunération du temps de travail des profils mobilisés.</a:t>
            </a:r>
            <a:br/>
            <a:br/>
            <a:r>
              <a:t>• TJM (Taux Journalier Moyen) ou tarif horaire pour des freelances.</a:t>
            </a:r>
            <a:br/>
            <a:r>
              <a:t>• Forfait à la tâche (ex : 50 000 FCFA pour le montage vidéo complet).</a:t>
            </a:r>
            <a:br/>
            <a:r>
              <a:t>• Valorisation du temps du chef de projet.</a:t>
            </a:r>
          </a:p>
        </p:txBody>
      </p:sp>
      <p:sp>
        <p:nvSpPr>
          <p:cNvPr id="11" name="Rounded Rectangle 10"/>
          <p:cNvSpPr/>
          <p:nvPr/>
        </p:nvSpPr>
        <p:spPr>
          <a:xfrm>
            <a:off x="3504895" y="1371600"/>
            <a:ext cx="260604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42055" y="1554480"/>
            <a:ext cx="2331720" cy="45720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Achat Média (Publicité)</a:t>
            </a:r>
          </a:p>
        </p:txBody>
      </p:sp>
      <p:sp>
        <p:nvSpPr>
          <p:cNvPr id="13" name="TextBox 12"/>
          <p:cNvSpPr txBox="1"/>
          <p:nvPr/>
        </p:nvSpPr>
        <p:spPr>
          <a:xfrm>
            <a:off x="3642055" y="2103120"/>
            <a:ext cx="2331720" cy="3840480"/>
          </a:xfrm>
          <a:prstGeom prst="rect">
            <a:avLst/>
          </a:prstGeom>
          <a:noFill/>
        </p:spPr>
        <p:txBody>
          <a:bodyPr wrap="square" lIns="0" rIns="0">
            <a:spAutoFit/>
          </a:bodyPr>
          <a:lstStyle/>
          <a:p>
            <a:pPr>
              <a:defRPr sz="1150">
                <a:solidFill>
                  <a:srgbClr val="2C3E50"/>
                </a:solidFill>
              </a:defRPr>
            </a:pPr>
            <a:r>
              <a:t>L'argent payé directement aux plateformes publicitaires pour diffuser vos annonces.</a:t>
            </a:r>
            <a:br/>
            <a:br/>
            <a:r>
              <a:t>• Meta Ads (Facebook &amp; Instagram).</a:t>
            </a:r>
            <a:br/>
            <a:r>
              <a:t>• Google Ads / YouTube Ads.</a:t>
            </a:r>
            <a:br/>
            <a:r>
              <a:t>• TikTok Ads.</a:t>
            </a:r>
            <a:br/>
            <a:r>
              <a:t>• Budget d'influenceurs ou partenariats.</a:t>
            </a:r>
          </a:p>
        </p:txBody>
      </p:sp>
      <p:sp>
        <p:nvSpPr>
          <p:cNvPr id="14" name="Rounded Rectangle 13"/>
          <p:cNvSpPr/>
          <p:nvPr/>
        </p:nvSpPr>
        <p:spPr>
          <a:xfrm>
            <a:off x="6278270" y="1371600"/>
            <a:ext cx="2606040" cy="47548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15430" y="1554480"/>
            <a:ext cx="2331720" cy="4572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Outils, Logiciels &amp; Tech</a:t>
            </a:r>
          </a:p>
        </p:txBody>
      </p:sp>
      <p:sp>
        <p:nvSpPr>
          <p:cNvPr id="16" name="TextBox 15"/>
          <p:cNvSpPr txBox="1"/>
          <p:nvPr/>
        </p:nvSpPr>
        <p:spPr>
          <a:xfrm>
            <a:off x="6415430" y="2103120"/>
            <a:ext cx="2331720" cy="3840480"/>
          </a:xfrm>
          <a:prstGeom prst="rect">
            <a:avLst/>
          </a:prstGeom>
          <a:noFill/>
        </p:spPr>
        <p:txBody>
          <a:bodyPr wrap="square" lIns="0" rIns="0">
            <a:spAutoFit/>
          </a:bodyPr>
          <a:lstStyle/>
          <a:p>
            <a:pPr>
              <a:defRPr sz="1150">
                <a:solidFill>
                  <a:srgbClr val="2C3E50"/>
                </a:solidFill>
              </a:defRPr>
            </a:pPr>
            <a:r>
              <a:t>Les abonnements et licences nécessaires à la production et au suivi.</a:t>
            </a:r>
            <a:br/>
            <a:br/>
            <a:r>
              <a:t>• Outils graphiques (Canva Pro).</a:t>
            </a:r>
            <a:br/>
            <a:r>
              <a:t>• Plateforme d'emailing (Mailchimp, Brevo).</a:t>
            </a:r>
            <a:br/>
            <a:r>
              <a:t>• Hébergement web &amp; nom de domaine.</a:t>
            </a:r>
            <a:br/>
            <a:r>
              <a:t>• Outils de montage ou stockage cloud.</a:t>
            </a:r>
          </a:p>
        </p:txBody>
      </p:sp>
      <p:sp>
        <p:nvSpPr>
          <p:cNvPr id="17" name="Rounded Rectangle 16"/>
          <p:cNvSpPr/>
          <p:nvPr/>
        </p:nvSpPr>
        <p:spPr>
          <a:xfrm>
            <a:off x="9051645" y="1371600"/>
            <a:ext cx="260604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8805" y="1554480"/>
            <a:ext cx="2331720" cy="457200"/>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Réserve pour Imprévus</a:t>
            </a:r>
          </a:p>
        </p:txBody>
      </p:sp>
      <p:sp>
        <p:nvSpPr>
          <p:cNvPr id="19" name="TextBox 18"/>
          <p:cNvSpPr txBox="1"/>
          <p:nvPr/>
        </p:nvSpPr>
        <p:spPr>
          <a:xfrm>
            <a:off x="9188805" y="2103120"/>
            <a:ext cx="2331720" cy="3840480"/>
          </a:xfrm>
          <a:prstGeom prst="rect">
            <a:avLst/>
          </a:prstGeom>
          <a:noFill/>
        </p:spPr>
        <p:txBody>
          <a:bodyPr wrap="square" lIns="0" rIns="0">
            <a:spAutoFit/>
          </a:bodyPr>
          <a:lstStyle/>
          <a:p>
            <a:pPr>
              <a:defRPr sz="1150">
                <a:solidFill>
                  <a:srgbClr val="2C3E50"/>
                </a:solidFill>
              </a:defRPr>
            </a:pPr>
            <a:r>
              <a:t>Le coussin financier indispensable pour absorber les aléas de campagne.</a:t>
            </a:r>
            <a:br/>
            <a:br/>
            <a:r>
              <a:t>• Re-tournage d'un plan vidéo.</a:t>
            </a:r>
            <a:br/>
            <a:r>
              <a:t>• Hausse imprévue du coût par clic (CPC).</a:t>
            </a:r>
            <a:br/>
            <a:r>
              <a:t>• Frais bancaires de paiement en devises.</a:t>
            </a:r>
            <a:br/>
            <a:r>
              <a:t>• Règle d'or : Prévoir 10% à 15% de marge de contingence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La Mécanique du Budget par Tâche : Formule &amp; Tableau Modèle</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16/22</a:t>
            </a:r>
          </a:p>
        </p:txBody>
      </p:sp>
      <p:sp>
        <p:nvSpPr>
          <p:cNvPr id="8" name="Rounded Rectangle 7"/>
          <p:cNvSpPr/>
          <p:nvPr/>
        </p:nvSpPr>
        <p:spPr>
          <a:xfrm>
            <a:off x="731520" y="1371600"/>
            <a:ext cx="10728655" cy="822960"/>
          </a:xfrm>
          <a:prstGeom prst="roundRect">
            <a:avLst/>
          </a:prstGeom>
          <a:solidFill>
            <a:srgbClr val="F5F7FA"/>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400" b="1">
                <a:solidFill>
                  <a:srgbClr val="1A3A5C"/>
                </a:solidFill>
              </a:defRPr>
            </a:pPr>
            <a:r>
              <a:t>🧮 La Formule du Coût d'une Tâche : Coût Tâche = [Temps RH × Taux Horaire/Forfait] + [Achat Média] + [Outils dédiés]</a:t>
            </a:r>
          </a:p>
        </p:txBody>
      </p:sp>
      <p:graphicFrame>
        <p:nvGraphicFramePr>
          <p:cNvPr id="9" name="Table 8"/>
          <p:cNvGraphicFramePr>
            <a:graphicFrameLocks noGrp="1"/>
          </p:cNvGraphicFramePr>
          <p:nvPr/>
        </p:nvGraphicFramePr>
        <p:xfrm>
          <a:off x="731520" y="2377440"/>
          <a:ext cx="10728655" cy="3840480"/>
        </p:xfrm>
        <a:graphic>
          <a:graphicData uri="http://schemas.openxmlformats.org/drawingml/2006/table">
            <a:tbl>
              <a:tblPr firstRow="1" bandRow="1">
                <a:tableStyleId>{5C22544A-7EE6-4342-B048-85BDC9FD1C3A}</a:tableStyleId>
              </a:tblPr>
              <a:tblGrid>
                <a:gridCol w="914400"/>
                <a:gridCol w="3291840"/>
                <a:gridCol w="2011680"/>
                <a:gridCol w="1371600"/>
                <a:gridCol w="1463040"/>
                <a:gridCol w="1676095"/>
              </a:tblGrid>
              <a:tr h="768096">
                <a:tc>
                  <a:txBody>
                    <a:bodyPr/>
                    <a:lstStyle/>
                    <a:p>
                      <a:pPr>
                        <a:defRPr sz="1150" b="1">
                          <a:solidFill>
                            <a:srgbClr val="FFFFFF"/>
                          </a:solidFill>
                        </a:defRPr>
                      </a:pPr>
                      <a:r>
                        <a:t>Code</a:t>
                      </a:r>
                    </a:p>
                  </a:txBody>
                  <a:tcPr>
                    <a:solidFill>
                      <a:srgbClr val="1A3A5C"/>
                    </a:solidFill>
                  </a:tcPr>
                </a:tc>
                <a:tc>
                  <a:txBody>
                    <a:bodyPr/>
                    <a:lstStyle/>
                    <a:p>
                      <a:pPr>
                        <a:defRPr sz="1150" b="1">
                          <a:solidFill>
                            <a:srgbClr val="FFFFFF"/>
                          </a:solidFill>
                        </a:defRPr>
                      </a:pPr>
                      <a:r>
                        <a:t>Intitulé Tâche</a:t>
                      </a:r>
                    </a:p>
                  </a:txBody>
                  <a:tcPr>
                    <a:solidFill>
                      <a:srgbClr val="1A3A5C"/>
                    </a:solidFill>
                  </a:tcPr>
                </a:tc>
                <a:tc>
                  <a:txBody>
                    <a:bodyPr/>
                    <a:lstStyle/>
                    <a:p>
                      <a:pPr>
                        <a:defRPr sz="1150" b="1">
                          <a:solidFill>
                            <a:srgbClr val="FFFFFF"/>
                          </a:solidFill>
                        </a:defRPr>
                      </a:pPr>
                      <a:r>
                        <a:t>Ressource RH</a:t>
                      </a:r>
                    </a:p>
                  </a:txBody>
                  <a:tcPr>
                    <a:solidFill>
                      <a:srgbClr val="1A3A5C"/>
                    </a:solidFill>
                  </a:tcPr>
                </a:tc>
                <a:tc>
                  <a:txBody>
                    <a:bodyPr/>
                    <a:lstStyle/>
                    <a:p>
                      <a:pPr>
                        <a:defRPr sz="1150" b="1">
                          <a:solidFill>
                            <a:srgbClr val="FFFFFF"/>
                          </a:solidFill>
                        </a:defRPr>
                      </a:pPr>
                      <a:r>
                        <a:t>Coût RH</a:t>
                      </a:r>
                    </a:p>
                  </a:txBody>
                  <a:tcPr>
                    <a:solidFill>
                      <a:srgbClr val="1A3A5C"/>
                    </a:solidFill>
                  </a:tcPr>
                </a:tc>
                <a:tc>
                  <a:txBody>
                    <a:bodyPr/>
                    <a:lstStyle/>
                    <a:p>
                      <a:pPr>
                        <a:defRPr sz="1150" b="1">
                          <a:solidFill>
                            <a:srgbClr val="FFFFFF"/>
                          </a:solidFill>
                        </a:defRPr>
                      </a:pPr>
                      <a:r>
                        <a:t>Coût Autre</a:t>
                      </a:r>
                    </a:p>
                  </a:txBody>
                  <a:tcPr>
                    <a:solidFill>
                      <a:srgbClr val="1A3A5C"/>
                    </a:solidFill>
                  </a:tcPr>
                </a:tc>
                <a:tc>
                  <a:txBody>
                    <a:bodyPr/>
                    <a:lstStyle/>
                    <a:p>
                      <a:pPr>
                        <a:defRPr sz="1150" b="1">
                          <a:solidFill>
                            <a:srgbClr val="FFFFFF"/>
                          </a:solidFill>
                        </a:defRPr>
                      </a:pPr>
                      <a:r>
                        <a:t>Total Tâche</a:t>
                      </a:r>
                    </a:p>
                  </a:txBody>
                  <a:tcPr>
                    <a:solidFill>
                      <a:srgbClr val="1A3A5C"/>
                    </a:solidFill>
                  </a:tcPr>
                </a:tc>
              </a:tr>
              <a:tr h="768096">
                <a:tc>
                  <a:txBody>
                    <a:bodyPr/>
                    <a:lstStyle/>
                    <a:p>
                      <a:pPr>
                        <a:defRPr sz="1100">
                          <a:solidFill>
                            <a:srgbClr val="2C3E50"/>
                          </a:solidFill>
                        </a:defRPr>
                      </a:pPr>
                      <a:r>
                        <a:t>T1</a:t>
                      </a:r>
                    </a:p>
                  </a:txBody>
                  <a:tcPr>
                    <a:solidFill>
                      <a:srgbClr val="F5F7FA"/>
                    </a:solidFill>
                  </a:tcPr>
                </a:tc>
                <a:tc>
                  <a:txBody>
                    <a:bodyPr/>
                    <a:lstStyle/>
                    <a:p>
                      <a:pPr>
                        <a:defRPr sz="1100">
                          <a:solidFill>
                            <a:srgbClr val="2C3E50"/>
                          </a:solidFill>
                        </a:defRPr>
                      </a:pPr>
                      <a:r>
                        <a:t>Rédaction des scripts &amp; briefs</a:t>
                      </a:r>
                    </a:p>
                  </a:txBody>
                  <a:tcPr>
                    <a:solidFill>
                      <a:srgbClr val="F5F7FA"/>
                    </a:solidFill>
                  </a:tcPr>
                </a:tc>
                <a:tc>
                  <a:txBody>
                    <a:bodyPr/>
                    <a:lstStyle/>
                    <a:p>
                      <a:pPr>
                        <a:defRPr sz="1100">
                          <a:solidFill>
                            <a:srgbClr val="2C3E50"/>
                          </a:solidFill>
                        </a:defRPr>
                      </a:pPr>
                      <a:r>
                        <a:t>Concepteur-Rédacteur</a:t>
                      </a:r>
                    </a:p>
                  </a:txBody>
                  <a:tcPr>
                    <a:solidFill>
                      <a:srgbClr val="F5F7FA"/>
                    </a:solidFill>
                  </a:tcPr>
                </a:tc>
                <a:tc>
                  <a:txBody>
                    <a:bodyPr/>
                    <a:lstStyle/>
                    <a:p>
                      <a:pPr>
                        <a:defRPr sz="1100">
                          <a:solidFill>
                            <a:srgbClr val="2C3E50"/>
                          </a:solidFill>
                        </a:defRPr>
                      </a:pPr>
                      <a:r>
                        <a:t>60 000 FCFA</a:t>
                      </a:r>
                    </a:p>
                  </a:txBody>
                  <a:tcPr>
                    <a:solidFill>
                      <a:srgbClr val="F5F7FA"/>
                    </a:solidFill>
                  </a:tcPr>
                </a:tc>
                <a:tc>
                  <a:txBody>
                    <a:bodyPr/>
                    <a:lstStyle/>
                    <a:p>
                      <a:pPr>
                        <a:defRPr sz="1100">
                          <a:solidFill>
                            <a:srgbClr val="2C3E50"/>
                          </a:solidFill>
                        </a:defRPr>
                      </a:pPr>
                      <a:r>
                        <a:t>0 FCFA</a:t>
                      </a:r>
                    </a:p>
                  </a:txBody>
                  <a:tcPr>
                    <a:solidFill>
                      <a:srgbClr val="F5F7FA"/>
                    </a:solidFill>
                  </a:tcPr>
                </a:tc>
                <a:tc>
                  <a:txBody>
                    <a:bodyPr/>
                    <a:lstStyle/>
                    <a:p>
                      <a:pPr>
                        <a:defRPr sz="1100" b="1">
                          <a:solidFill>
                            <a:srgbClr val="E8912D"/>
                          </a:solidFill>
                        </a:defRPr>
                      </a:pPr>
                      <a:r>
                        <a:t>60 000 FCFA</a:t>
                      </a:r>
                    </a:p>
                  </a:txBody>
                  <a:tcPr>
                    <a:solidFill>
                      <a:srgbClr val="F5F7FA"/>
                    </a:solidFill>
                  </a:tcPr>
                </a:tc>
              </a:tr>
              <a:tr h="768096">
                <a:tc>
                  <a:txBody>
                    <a:bodyPr/>
                    <a:lstStyle/>
                    <a:p>
                      <a:pPr>
                        <a:defRPr sz="1100">
                          <a:solidFill>
                            <a:srgbClr val="2C3E50"/>
                          </a:solidFill>
                        </a:defRPr>
                      </a:pPr>
                      <a:r>
                        <a:t>T2</a:t>
                      </a:r>
                    </a:p>
                  </a:txBody>
                  <a:tcPr>
                    <a:solidFill>
                      <a:srgbClr val="FFFFFF"/>
                    </a:solidFill>
                  </a:tcPr>
                </a:tc>
                <a:tc>
                  <a:txBody>
                    <a:bodyPr/>
                    <a:lstStyle/>
                    <a:p>
                      <a:pPr>
                        <a:defRPr sz="1100">
                          <a:solidFill>
                            <a:srgbClr val="2C3E50"/>
                          </a:solidFill>
                        </a:defRPr>
                      </a:pPr>
                      <a:r>
                        <a:t>Création des visuels &amp; flyer</a:t>
                      </a:r>
                    </a:p>
                  </a:txBody>
                  <a:tcPr>
                    <a:solidFill>
                      <a:srgbClr val="FFFFFF"/>
                    </a:solidFill>
                  </a:tcPr>
                </a:tc>
                <a:tc>
                  <a:txBody>
                    <a:bodyPr/>
                    <a:lstStyle/>
                    <a:p>
                      <a:pPr>
                        <a:defRPr sz="1100">
                          <a:solidFill>
                            <a:srgbClr val="2C3E50"/>
                          </a:solidFill>
                        </a:defRPr>
                      </a:pPr>
                      <a:r>
                        <a:t>Graphiste freelance</a:t>
                      </a:r>
                    </a:p>
                  </a:txBody>
                  <a:tcPr>
                    <a:solidFill>
                      <a:srgbClr val="FFFFFF"/>
                    </a:solidFill>
                  </a:tcPr>
                </a:tc>
                <a:tc>
                  <a:txBody>
                    <a:bodyPr/>
                    <a:lstStyle/>
                    <a:p>
                      <a:pPr>
                        <a:defRPr sz="1100">
                          <a:solidFill>
                            <a:srgbClr val="2C3E50"/>
                          </a:solidFill>
                        </a:defRPr>
                      </a:pPr>
                      <a:r>
                        <a:t>100 000 FCFA</a:t>
                      </a:r>
                    </a:p>
                  </a:txBody>
                  <a:tcPr>
                    <a:solidFill>
                      <a:srgbClr val="FFFFFF"/>
                    </a:solidFill>
                  </a:tcPr>
                </a:tc>
                <a:tc>
                  <a:txBody>
                    <a:bodyPr/>
                    <a:lstStyle/>
                    <a:p>
                      <a:pPr>
                        <a:defRPr sz="1100">
                          <a:solidFill>
                            <a:srgbClr val="2C3E50"/>
                          </a:solidFill>
                        </a:defRPr>
                      </a:pPr>
                      <a:r>
                        <a:t>15 000 (Canva)</a:t>
                      </a:r>
                    </a:p>
                  </a:txBody>
                  <a:tcPr>
                    <a:solidFill>
                      <a:srgbClr val="FFFFFF"/>
                    </a:solidFill>
                  </a:tcPr>
                </a:tc>
                <a:tc>
                  <a:txBody>
                    <a:bodyPr/>
                    <a:lstStyle/>
                    <a:p>
                      <a:pPr>
                        <a:defRPr sz="1100" b="1">
                          <a:solidFill>
                            <a:srgbClr val="E8912D"/>
                          </a:solidFill>
                        </a:defRPr>
                      </a:pPr>
                      <a:r>
                        <a:t>115 000 FCFA</a:t>
                      </a:r>
                    </a:p>
                  </a:txBody>
                  <a:tcPr>
                    <a:solidFill>
                      <a:srgbClr val="FFFFFF"/>
                    </a:solidFill>
                  </a:tcPr>
                </a:tc>
              </a:tr>
              <a:tr h="768096">
                <a:tc>
                  <a:txBody>
                    <a:bodyPr/>
                    <a:lstStyle/>
                    <a:p>
                      <a:pPr>
                        <a:defRPr sz="1100">
                          <a:solidFill>
                            <a:srgbClr val="2C3E50"/>
                          </a:solidFill>
                        </a:defRPr>
                      </a:pPr>
                      <a:r>
                        <a:t>T3</a:t>
                      </a:r>
                    </a:p>
                  </a:txBody>
                  <a:tcPr>
                    <a:solidFill>
                      <a:srgbClr val="F5F7FA"/>
                    </a:solidFill>
                  </a:tcPr>
                </a:tc>
                <a:tc>
                  <a:txBody>
                    <a:bodyPr/>
                    <a:lstStyle/>
                    <a:p>
                      <a:pPr>
                        <a:defRPr sz="1100">
                          <a:solidFill>
                            <a:srgbClr val="2C3E50"/>
                          </a:solidFill>
                        </a:defRPr>
                      </a:pPr>
                      <a:r>
                        <a:t>Tournage &amp; montage vidéo</a:t>
                      </a:r>
                    </a:p>
                  </a:txBody>
                  <a:tcPr>
                    <a:solidFill>
                      <a:srgbClr val="F5F7FA"/>
                    </a:solidFill>
                  </a:tcPr>
                </a:tc>
                <a:tc>
                  <a:txBody>
                    <a:bodyPr/>
                    <a:lstStyle/>
                    <a:p>
                      <a:pPr>
                        <a:defRPr sz="1100">
                          <a:solidFill>
                            <a:srgbClr val="2C3E50"/>
                          </a:solidFill>
                        </a:defRPr>
                      </a:pPr>
                      <a:r>
                        <a:t>Monteur Vidéo</a:t>
                      </a:r>
                    </a:p>
                  </a:txBody>
                  <a:tcPr>
                    <a:solidFill>
                      <a:srgbClr val="F5F7FA"/>
                    </a:solidFill>
                  </a:tcPr>
                </a:tc>
                <a:tc>
                  <a:txBody>
                    <a:bodyPr/>
                    <a:lstStyle/>
                    <a:p>
                      <a:pPr>
                        <a:defRPr sz="1100">
                          <a:solidFill>
                            <a:srgbClr val="2C3E50"/>
                          </a:solidFill>
                        </a:defRPr>
                      </a:pPr>
                      <a:r>
                        <a:t>150 000 FCFA</a:t>
                      </a:r>
                    </a:p>
                  </a:txBody>
                  <a:tcPr>
                    <a:solidFill>
                      <a:srgbClr val="F5F7FA"/>
                    </a:solidFill>
                  </a:tcPr>
                </a:tc>
                <a:tc>
                  <a:txBody>
                    <a:bodyPr/>
                    <a:lstStyle/>
                    <a:p>
                      <a:pPr>
                        <a:defRPr sz="1100">
                          <a:solidFill>
                            <a:srgbClr val="2C3E50"/>
                          </a:solidFill>
                        </a:defRPr>
                      </a:pPr>
                      <a:r>
                        <a:t>20 000 (Loc. mat.)</a:t>
                      </a:r>
                    </a:p>
                  </a:txBody>
                  <a:tcPr>
                    <a:solidFill>
                      <a:srgbClr val="F5F7FA"/>
                    </a:solidFill>
                  </a:tcPr>
                </a:tc>
                <a:tc>
                  <a:txBody>
                    <a:bodyPr/>
                    <a:lstStyle/>
                    <a:p>
                      <a:pPr>
                        <a:defRPr sz="1100" b="1">
                          <a:solidFill>
                            <a:srgbClr val="E8912D"/>
                          </a:solidFill>
                        </a:defRPr>
                      </a:pPr>
                      <a:r>
                        <a:t>170 000 FCFA</a:t>
                      </a:r>
                    </a:p>
                  </a:txBody>
                  <a:tcPr>
                    <a:solidFill>
                      <a:srgbClr val="F5F7FA"/>
                    </a:solidFill>
                  </a:tcPr>
                </a:tc>
              </a:tr>
              <a:tr h="768096">
                <a:tc>
                  <a:txBody>
                    <a:bodyPr/>
                    <a:lstStyle/>
                    <a:p>
                      <a:pPr>
                        <a:defRPr sz="1100">
                          <a:solidFill>
                            <a:srgbClr val="2C3E50"/>
                          </a:solidFill>
                        </a:defRPr>
                      </a:pPr>
                      <a:r>
                        <a:t>T4</a:t>
                      </a:r>
                    </a:p>
                  </a:txBody>
                  <a:tcPr>
                    <a:solidFill>
                      <a:srgbClr val="FFFFFF"/>
                    </a:solidFill>
                  </a:tcPr>
                </a:tc>
                <a:tc>
                  <a:txBody>
                    <a:bodyPr/>
                    <a:lstStyle/>
                    <a:p>
                      <a:pPr>
                        <a:defRPr sz="1100">
                          <a:solidFill>
                            <a:srgbClr val="2C3E50"/>
                          </a:solidFill>
                        </a:defRPr>
                      </a:pPr>
                      <a:r>
                        <a:t>Diffusion sponsorisée Meta Ads</a:t>
                      </a:r>
                    </a:p>
                  </a:txBody>
                  <a:tcPr>
                    <a:solidFill>
                      <a:srgbClr val="FFFFFF"/>
                    </a:solidFill>
                  </a:tcPr>
                </a:tc>
                <a:tc>
                  <a:txBody>
                    <a:bodyPr/>
                    <a:lstStyle/>
                    <a:p>
                      <a:pPr>
                        <a:defRPr sz="1100">
                          <a:solidFill>
                            <a:srgbClr val="2C3E50"/>
                          </a:solidFill>
                        </a:defRPr>
                      </a:pPr>
                      <a:r>
                        <a:t>Traffic Manager</a:t>
                      </a:r>
                    </a:p>
                  </a:txBody>
                  <a:tcPr>
                    <a:solidFill>
                      <a:srgbClr val="FFFFFF"/>
                    </a:solidFill>
                  </a:tcPr>
                </a:tc>
                <a:tc>
                  <a:txBody>
                    <a:bodyPr/>
                    <a:lstStyle/>
                    <a:p>
                      <a:pPr>
                        <a:defRPr sz="1100">
                          <a:solidFill>
                            <a:srgbClr val="2C3E50"/>
                          </a:solidFill>
                        </a:defRPr>
                      </a:pPr>
                      <a:r>
                        <a:t>80 000 FCFA</a:t>
                      </a:r>
                    </a:p>
                  </a:txBody>
                  <a:tcPr>
                    <a:solidFill>
                      <a:srgbClr val="FFFFFF"/>
                    </a:solidFill>
                  </a:tcPr>
                </a:tc>
                <a:tc>
                  <a:txBody>
                    <a:bodyPr/>
                    <a:lstStyle/>
                    <a:p>
                      <a:pPr>
                        <a:defRPr sz="1100">
                          <a:solidFill>
                            <a:srgbClr val="2C3E50"/>
                          </a:solidFill>
                        </a:defRPr>
                      </a:pPr>
                      <a:r>
                        <a:t>450 000 (Budget Pub)</a:t>
                      </a:r>
                    </a:p>
                  </a:txBody>
                  <a:tcPr>
                    <a:solidFill>
                      <a:srgbClr val="FFFFFF"/>
                    </a:solidFill>
                  </a:tcPr>
                </a:tc>
                <a:tc>
                  <a:txBody>
                    <a:bodyPr/>
                    <a:lstStyle/>
                    <a:p>
                      <a:pPr>
                        <a:defRPr sz="1100" b="1">
                          <a:solidFill>
                            <a:srgbClr val="E8912D"/>
                          </a:solidFill>
                        </a:defRPr>
                      </a:pPr>
                      <a:r>
                        <a:t>530 000 FCFA</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La Dimension Temporelle : Trésorerie &amp; Courbe de Décaissement</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17/22</a:t>
            </a:r>
          </a:p>
        </p:txBody>
      </p:sp>
      <p:sp>
        <p:nvSpPr>
          <p:cNvPr id="8" name="Rounded Rectangle 7"/>
          <p:cNvSpPr/>
          <p:nvPr/>
        </p:nvSpPr>
        <p:spPr>
          <a:xfrm>
            <a:off x="731520" y="1371600"/>
            <a:ext cx="10728655" cy="10972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164592"/>
          <a:lstStyle/>
          <a:p>
            <a:pPr algn="ctr">
              <a:defRPr sz="1600" b="1">
                <a:solidFill>
                  <a:srgbClr val="1A3A5C"/>
                </a:solidFill>
              </a:defRPr>
            </a:pPr>
            <a:r>
              <a:t>💸 Pourquoi le timing des dépenses est vital ?</a:t>
            </a:r>
          </a:p>
          <a:p>
            <a:pPr>
              <a:spcBef>
                <a:spcPts val="400"/>
              </a:spcBef>
              <a:defRPr sz="1250">
                <a:solidFill>
                  <a:srgbClr val="2C3E50"/>
                </a:solidFill>
              </a:defRPr>
            </a:pPr>
            <a:r>
              <a:t>Avoir un budget de 1 500 000 FCFA ne signifie pas qu'on dépense tout le premier jour ! La trésorerie (cash-flow) consiste à savoir combien d'argent doit sortir chaque semaine. Sans cela, le projet s'arrête net par manque de liquidités.</a:t>
            </a:r>
          </a:p>
        </p:txBody>
      </p:sp>
      <p:sp>
        <p:nvSpPr>
          <p:cNvPr id="9" name="Rounded Rectangle 8"/>
          <p:cNvSpPr/>
          <p:nvPr/>
        </p:nvSpPr>
        <p:spPr>
          <a:xfrm>
            <a:off x="731520" y="2651760"/>
            <a:ext cx="2057400" cy="3474720"/>
          </a:xfrm>
          <a:prstGeom prst="round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788920"/>
            <a:ext cx="1874519" cy="384048"/>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Semaine 1</a:t>
            </a:r>
          </a:p>
        </p:txBody>
      </p:sp>
      <p:sp>
        <p:nvSpPr>
          <p:cNvPr id="11" name="TextBox 10"/>
          <p:cNvSpPr txBox="1"/>
          <p:nvPr/>
        </p:nvSpPr>
        <p:spPr>
          <a:xfrm>
            <a:off x="822960" y="3246120"/>
            <a:ext cx="1874519" cy="2743200"/>
          </a:xfrm>
          <a:prstGeom prst="rect">
            <a:avLst/>
          </a:prstGeom>
          <a:noFill/>
        </p:spPr>
        <p:txBody>
          <a:bodyPr wrap="square" lIns="0" rIns="0">
            <a:spAutoFit/>
          </a:bodyPr>
          <a:lstStyle/>
          <a:p>
            <a:pPr algn="ctr">
              <a:defRPr sz="1200" b="1">
                <a:solidFill>
                  <a:srgbClr val="1A3A5C"/>
                </a:solidFill>
              </a:defRPr>
            </a:pPr>
            <a:r>
              <a:t>Préparation &amp; Cadrage</a:t>
            </a:r>
          </a:p>
          <a:p>
            <a:pPr>
              <a:spcBef>
                <a:spcPts val="800"/>
              </a:spcBef>
              <a:defRPr sz="1050">
                <a:solidFill>
                  <a:srgbClr val="2C3E50"/>
                </a:solidFill>
              </a:defRPr>
            </a:pPr>
            <a:r>
              <a:t>• Acompte graphiste (30%)</a:t>
            </a:r>
            <a:br/>
            <a:r>
              <a:t>• Outils &amp; abonnements</a:t>
            </a:r>
            <a:br/>
            <a:br/>
            <a:r>
              <a:t>Décaissement : 120 000 F</a:t>
            </a:r>
          </a:p>
        </p:txBody>
      </p:sp>
      <p:sp>
        <p:nvSpPr>
          <p:cNvPr id="12" name="Rounded Rectangle 11"/>
          <p:cNvSpPr/>
          <p:nvPr/>
        </p:nvSpPr>
        <p:spPr>
          <a:xfrm>
            <a:off x="2949854" y="2651760"/>
            <a:ext cx="2057400" cy="3474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041294" y="2788920"/>
            <a:ext cx="1874519"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Semaine 2</a:t>
            </a:r>
          </a:p>
        </p:txBody>
      </p:sp>
      <p:sp>
        <p:nvSpPr>
          <p:cNvPr id="14" name="TextBox 13"/>
          <p:cNvSpPr txBox="1"/>
          <p:nvPr/>
        </p:nvSpPr>
        <p:spPr>
          <a:xfrm>
            <a:off x="3041294" y="3246120"/>
            <a:ext cx="1874519" cy="2743200"/>
          </a:xfrm>
          <a:prstGeom prst="rect">
            <a:avLst/>
          </a:prstGeom>
          <a:noFill/>
        </p:spPr>
        <p:txBody>
          <a:bodyPr wrap="square" lIns="0" rIns="0">
            <a:spAutoFit/>
          </a:bodyPr>
          <a:lstStyle/>
          <a:p>
            <a:pPr algn="ctr">
              <a:defRPr sz="1200" b="1">
                <a:solidFill>
                  <a:srgbClr val="1A3A5C"/>
                </a:solidFill>
              </a:defRPr>
            </a:pPr>
            <a:r>
              <a:t>Production Créative</a:t>
            </a:r>
          </a:p>
          <a:p>
            <a:pPr>
              <a:spcBef>
                <a:spcPts val="800"/>
              </a:spcBef>
              <a:defRPr sz="1050">
                <a:solidFill>
                  <a:srgbClr val="2C3E50"/>
                </a:solidFill>
              </a:defRPr>
            </a:pPr>
            <a:r>
              <a:t>• Acompte monteur vidéo (50%)</a:t>
            </a:r>
            <a:br/>
            <a:r>
              <a:t>• Frais de shooting</a:t>
            </a:r>
            <a:br/>
            <a:br/>
            <a:r>
              <a:t>Décaissement : 250 000 F</a:t>
            </a:r>
          </a:p>
        </p:txBody>
      </p:sp>
      <p:sp>
        <p:nvSpPr>
          <p:cNvPr id="15" name="Rounded Rectangle 14"/>
          <p:cNvSpPr/>
          <p:nvPr/>
        </p:nvSpPr>
        <p:spPr>
          <a:xfrm>
            <a:off x="5168188" y="2651760"/>
            <a:ext cx="2057400" cy="347472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59628" y="2788920"/>
            <a:ext cx="1874519" cy="384048"/>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Semaine 3</a:t>
            </a:r>
          </a:p>
        </p:txBody>
      </p:sp>
      <p:sp>
        <p:nvSpPr>
          <p:cNvPr id="17" name="TextBox 16"/>
          <p:cNvSpPr txBox="1"/>
          <p:nvPr/>
        </p:nvSpPr>
        <p:spPr>
          <a:xfrm>
            <a:off x="5259628" y="3246120"/>
            <a:ext cx="1874519" cy="2743200"/>
          </a:xfrm>
          <a:prstGeom prst="rect">
            <a:avLst/>
          </a:prstGeom>
          <a:noFill/>
        </p:spPr>
        <p:txBody>
          <a:bodyPr wrap="square" lIns="0" rIns="0">
            <a:spAutoFit/>
          </a:bodyPr>
          <a:lstStyle/>
          <a:p>
            <a:pPr algn="ctr">
              <a:defRPr sz="1200" b="1">
                <a:solidFill>
                  <a:srgbClr val="1A3A5C"/>
                </a:solidFill>
              </a:defRPr>
            </a:pPr>
            <a:r>
              <a:t>Validation &amp; Solde Prod</a:t>
            </a:r>
          </a:p>
          <a:p>
            <a:pPr>
              <a:spcBef>
                <a:spcPts val="800"/>
              </a:spcBef>
              <a:defRPr sz="1050">
                <a:solidFill>
                  <a:srgbClr val="2C3E50"/>
                </a:solidFill>
              </a:defRPr>
            </a:pPr>
            <a:r>
              <a:t>• Solde des prestataires créa</a:t>
            </a:r>
            <a:br/>
            <a:r>
              <a:t>• Approvisionnement compte pub</a:t>
            </a:r>
            <a:br/>
            <a:br/>
            <a:r>
              <a:t>Décaissement : 380 000 F</a:t>
            </a:r>
          </a:p>
        </p:txBody>
      </p:sp>
      <p:sp>
        <p:nvSpPr>
          <p:cNvPr id="18" name="Rounded Rectangle 17"/>
          <p:cNvSpPr/>
          <p:nvPr/>
        </p:nvSpPr>
        <p:spPr>
          <a:xfrm>
            <a:off x="7386523" y="2651760"/>
            <a:ext cx="2057400" cy="347472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77963" y="2788920"/>
            <a:ext cx="1874519" cy="384048"/>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Semaines 4-5</a:t>
            </a:r>
          </a:p>
        </p:txBody>
      </p:sp>
      <p:sp>
        <p:nvSpPr>
          <p:cNvPr id="20" name="TextBox 19"/>
          <p:cNvSpPr txBox="1"/>
          <p:nvPr/>
        </p:nvSpPr>
        <p:spPr>
          <a:xfrm>
            <a:off x="7477963" y="3246120"/>
            <a:ext cx="1874519" cy="2743200"/>
          </a:xfrm>
          <a:prstGeom prst="rect">
            <a:avLst/>
          </a:prstGeom>
          <a:noFill/>
        </p:spPr>
        <p:txBody>
          <a:bodyPr wrap="square" lIns="0" rIns="0">
            <a:spAutoFit/>
          </a:bodyPr>
          <a:lstStyle/>
          <a:p>
            <a:pPr algn="ctr">
              <a:defRPr sz="1200" b="1">
                <a:solidFill>
                  <a:srgbClr val="1A3A5C"/>
                </a:solidFill>
              </a:defRPr>
            </a:pPr>
            <a:r>
              <a:t>Campagne Active</a:t>
            </a:r>
          </a:p>
          <a:p>
            <a:pPr>
              <a:spcBef>
                <a:spcPts val="800"/>
              </a:spcBef>
              <a:defRPr sz="1050">
                <a:solidFill>
                  <a:srgbClr val="2C3E50"/>
                </a:solidFill>
              </a:defRPr>
            </a:pPr>
            <a:r>
              <a:t>• Dépenses quotidiennes Meta</a:t>
            </a:r>
            <a:br/>
            <a:r>
              <a:t>• Animation communauté</a:t>
            </a:r>
            <a:br/>
            <a:br/>
            <a:r>
              <a:t>Décaissement : 650 000 F</a:t>
            </a:r>
          </a:p>
        </p:txBody>
      </p:sp>
      <p:sp>
        <p:nvSpPr>
          <p:cNvPr id="21" name="Rounded Rectangle 20"/>
          <p:cNvSpPr/>
          <p:nvPr/>
        </p:nvSpPr>
        <p:spPr>
          <a:xfrm>
            <a:off x="9604857" y="2651760"/>
            <a:ext cx="2057400" cy="3474720"/>
          </a:xfrm>
          <a:prstGeom prst="roundRect">
            <a:avLst/>
          </a:prstGeom>
          <a:solidFill>
            <a:srgbClr val="FFFFFF"/>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96297" y="2788920"/>
            <a:ext cx="1874519" cy="38404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Semaine 6</a:t>
            </a:r>
          </a:p>
        </p:txBody>
      </p:sp>
      <p:sp>
        <p:nvSpPr>
          <p:cNvPr id="23" name="TextBox 22"/>
          <p:cNvSpPr txBox="1"/>
          <p:nvPr/>
        </p:nvSpPr>
        <p:spPr>
          <a:xfrm>
            <a:off x="9696297" y="3246120"/>
            <a:ext cx="1874519" cy="2743200"/>
          </a:xfrm>
          <a:prstGeom prst="rect">
            <a:avLst/>
          </a:prstGeom>
          <a:noFill/>
        </p:spPr>
        <p:txBody>
          <a:bodyPr wrap="square" lIns="0" rIns="0">
            <a:spAutoFit/>
          </a:bodyPr>
          <a:lstStyle/>
          <a:p>
            <a:pPr algn="ctr">
              <a:defRPr sz="1200" b="1">
                <a:solidFill>
                  <a:srgbClr val="1A3A5C"/>
                </a:solidFill>
              </a:defRPr>
            </a:pPr>
            <a:r>
              <a:t>Reporting &amp; Clôture</a:t>
            </a:r>
          </a:p>
          <a:p>
            <a:pPr>
              <a:spcBef>
                <a:spcPts val="800"/>
              </a:spcBef>
              <a:defRPr sz="1050">
                <a:solidFill>
                  <a:srgbClr val="2C3E50"/>
                </a:solidFill>
              </a:defRPr>
            </a:pPr>
            <a:r>
              <a:t>• Bilan de campagne</a:t>
            </a:r>
            <a:br/>
            <a:r>
              <a:t>• Rémunération Chef de Projet</a:t>
            </a:r>
            <a:br/>
            <a:br/>
            <a:r>
              <a:t>Décaissement : 100 000 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Cas Pratique : Campagne Digitale « Francotechno » (6 Semaines)</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18/22</a:t>
            </a:r>
          </a:p>
        </p:txBody>
      </p:sp>
      <p:sp>
        <p:nvSpPr>
          <p:cNvPr id="8" name="Rounded Rectangle 7"/>
          <p:cNvSpPr/>
          <p:nvPr/>
        </p:nvSpPr>
        <p:spPr>
          <a:xfrm>
            <a:off x="731520" y="1280160"/>
            <a:ext cx="6583680" cy="484632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400" b="1">
                <a:solidFill>
                  <a:srgbClr val="1A3A5C"/>
                </a:solidFill>
              </a:defRPr>
            </a:pPr>
            <a:r>
              <a:t>📋 Plan d'Action &amp; Découpage WBS Synthétique</a:t>
            </a:r>
          </a:p>
        </p:txBody>
      </p:sp>
      <p:graphicFrame>
        <p:nvGraphicFramePr>
          <p:cNvPr id="9" name="Table 8"/>
          <p:cNvGraphicFramePr>
            <a:graphicFrameLocks noGrp="1"/>
          </p:cNvGraphicFramePr>
          <p:nvPr/>
        </p:nvGraphicFramePr>
        <p:xfrm>
          <a:off x="822960" y="1645920"/>
          <a:ext cx="6400800" cy="4297680"/>
        </p:xfrm>
        <a:graphic>
          <a:graphicData uri="http://schemas.openxmlformats.org/drawingml/2006/table">
            <a:tbl>
              <a:tblPr firstRow="1" bandRow="1">
                <a:tableStyleId>{5C22544A-7EE6-4342-B048-85BDC9FD1C3A}</a:tableStyleId>
              </a:tblPr>
              <a:tblGrid>
                <a:gridCol w="2468880"/>
                <a:gridCol w="1188720"/>
                <a:gridCol w="1371600"/>
                <a:gridCol w="1371600"/>
              </a:tblGrid>
              <a:tr h="613954">
                <a:tc>
                  <a:txBody>
                    <a:bodyPr/>
                    <a:lstStyle/>
                    <a:p>
                      <a:pPr>
                        <a:defRPr sz="1000" b="1">
                          <a:solidFill>
                            <a:srgbClr val="FFFFFF"/>
                          </a:solidFill>
                        </a:defRPr>
                      </a:pPr>
                      <a:r>
                        <a:t>Tâche</a:t>
                      </a:r>
                    </a:p>
                  </a:txBody>
                  <a:tcPr>
                    <a:solidFill>
                      <a:srgbClr val="1A3A5C"/>
                    </a:solidFill>
                  </a:tcPr>
                </a:tc>
                <a:tc>
                  <a:txBody>
                    <a:bodyPr/>
                    <a:lstStyle/>
                    <a:p>
                      <a:pPr>
                        <a:defRPr sz="1000" b="1">
                          <a:solidFill>
                            <a:srgbClr val="FFFFFF"/>
                          </a:solidFill>
                        </a:defRPr>
                      </a:pPr>
                      <a:r>
                        <a:t>Durée</a:t>
                      </a:r>
                    </a:p>
                  </a:txBody>
                  <a:tcPr>
                    <a:solidFill>
                      <a:srgbClr val="1A3A5C"/>
                    </a:solidFill>
                  </a:tcPr>
                </a:tc>
                <a:tc>
                  <a:txBody>
                    <a:bodyPr/>
                    <a:lstStyle/>
                    <a:p>
                      <a:pPr>
                        <a:defRPr sz="1000" b="1">
                          <a:solidFill>
                            <a:srgbClr val="FFFFFF"/>
                          </a:solidFill>
                        </a:defRPr>
                      </a:pPr>
                      <a:r>
                        <a:t>Responsable</a:t>
                      </a:r>
                    </a:p>
                  </a:txBody>
                  <a:tcPr>
                    <a:solidFill>
                      <a:srgbClr val="1A3A5C"/>
                    </a:solidFill>
                  </a:tcPr>
                </a:tc>
                <a:tc>
                  <a:txBody>
                    <a:bodyPr/>
                    <a:lstStyle/>
                    <a:p>
                      <a:pPr>
                        <a:defRPr sz="1000" b="1">
                          <a:solidFill>
                            <a:srgbClr val="FFFFFF"/>
                          </a:solidFill>
                        </a:defRPr>
                      </a:pPr>
                      <a:r>
                        <a:t>Budget (FCFA)</a:t>
                      </a:r>
                    </a:p>
                  </a:txBody>
                  <a:tcPr>
                    <a:solidFill>
                      <a:srgbClr val="1A3A5C"/>
                    </a:solidFill>
                  </a:tcPr>
                </a:tc>
              </a:tr>
              <a:tr h="613954">
                <a:tc>
                  <a:txBody>
                    <a:bodyPr/>
                    <a:lstStyle/>
                    <a:p>
                      <a:pPr>
                        <a:defRPr sz="950">
                          <a:solidFill>
                            <a:srgbClr val="2C3E50"/>
                          </a:solidFill>
                        </a:defRPr>
                      </a:pPr>
                      <a:r>
                        <a:t>1. Cadrage &amp; Brief stratégique</a:t>
                      </a:r>
                    </a:p>
                  </a:txBody>
                  <a:tcPr>
                    <a:solidFill>
                      <a:srgbClr val="F5F7FA"/>
                    </a:solidFill>
                  </a:tcPr>
                </a:tc>
                <a:tc>
                  <a:txBody>
                    <a:bodyPr/>
                    <a:lstStyle/>
                    <a:p>
                      <a:pPr>
                        <a:defRPr sz="950">
                          <a:solidFill>
                            <a:srgbClr val="2C3E50"/>
                          </a:solidFill>
                        </a:defRPr>
                      </a:pPr>
                      <a:r>
                        <a:t>S1 (5j)</a:t>
                      </a:r>
                    </a:p>
                  </a:txBody>
                  <a:tcPr>
                    <a:solidFill>
                      <a:srgbClr val="F5F7FA"/>
                    </a:solidFill>
                  </a:tcPr>
                </a:tc>
                <a:tc>
                  <a:txBody>
                    <a:bodyPr/>
                    <a:lstStyle/>
                    <a:p>
                      <a:pPr>
                        <a:defRPr sz="950">
                          <a:solidFill>
                            <a:srgbClr val="2C3E50"/>
                          </a:solidFill>
                        </a:defRPr>
                      </a:pPr>
                      <a:r>
                        <a:t>Chef de projet</a:t>
                      </a:r>
                    </a:p>
                  </a:txBody>
                  <a:tcPr>
                    <a:solidFill>
                      <a:srgbClr val="F5F7FA"/>
                    </a:solidFill>
                  </a:tcPr>
                </a:tc>
                <a:tc>
                  <a:txBody>
                    <a:bodyPr/>
                    <a:lstStyle/>
                    <a:p>
                      <a:pPr>
                        <a:defRPr sz="950" b="1">
                          <a:solidFill>
                            <a:srgbClr val="2C3E50"/>
                          </a:solidFill>
                        </a:defRPr>
                      </a:pPr>
                      <a:r>
                        <a:t>150 000</a:t>
                      </a:r>
                    </a:p>
                  </a:txBody>
                  <a:tcPr>
                    <a:solidFill>
                      <a:srgbClr val="F5F7FA"/>
                    </a:solidFill>
                  </a:tcPr>
                </a:tc>
              </a:tr>
              <a:tr h="613954">
                <a:tc>
                  <a:txBody>
                    <a:bodyPr/>
                    <a:lstStyle/>
                    <a:p>
                      <a:pPr>
                        <a:defRPr sz="950">
                          <a:solidFill>
                            <a:srgbClr val="2C3E50"/>
                          </a:solidFill>
                        </a:defRPr>
                      </a:pPr>
                      <a:r>
                        <a:t>2. Rédaction scripts &amp; visuels</a:t>
                      </a:r>
                    </a:p>
                  </a:txBody>
                  <a:tcPr>
                    <a:solidFill>
                      <a:srgbClr val="FFFFFF"/>
                    </a:solidFill>
                  </a:tcPr>
                </a:tc>
                <a:tc>
                  <a:txBody>
                    <a:bodyPr/>
                    <a:lstStyle/>
                    <a:p>
                      <a:pPr>
                        <a:defRPr sz="950">
                          <a:solidFill>
                            <a:srgbClr val="2C3E50"/>
                          </a:solidFill>
                        </a:defRPr>
                      </a:pPr>
                      <a:r>
                        <a:t>S2 (5j)</a:t>
                      </a:r>
                    </a:p>
                  </a:txBody>
                  <a:tcPr>
                    <a:solidFill>
                      <a:srgbClr val="FFFFFF"/>
                    </a:solidFill>
                  </a:tcPr>
                </a:tc>
                <a:tc>
                  <a:txBody>
                    <a:bodyPr/>
                    <a:lstStyle/>
                    <a:p>
                      <a:pPr>
                        <a:defRPr sz="950">
                          <a:solidFill>
                            <a:srgbClr val="2C3E50"/>
                          </a:solidFill>
                        </a:defRPr>
                      </a:pPr>
                      <a:r>
                        <a:t>Copywriter</a:t>
                      </a:r>
                    </a:p>
                  </a:txBody>
                  <a:tcPr>
                    <a:solidFill>
                      <a:srgbClr val="FFFFFF"/>
                    </a:solidFill>
                  </a:tcPr>
                </a:tc>
                <a:tc>
                  <a:txBody>
                    <a:bodyPr/>
                    <a:lstStyle/>
                    <a:p>
                      <a:pPr>
                        <a:defRPr sz="950" b="1">
                          <a:solidFill>
                            <a:srgbClr val="2C3E50"/>
                          </a:solidFill>
                        </a:defRPr>
                      </a:pPr>
                      <a:r>
                        <a:t>120 000</a:t>
                      </a:r>
                    </a:p>
                  </a:txBody>
                  <a:tcPr>
                    <a:solidFill>
                      <a:srgbClr val="FFFFFF"/>
                    </a:solidFill>
                  </a:tcPr>
                </a:tc>
              </a:tr>
              <a:tr h="613954">
                <a:tc>
                  <a:txBody>
                    <a:bodyPr/>
                    <a:lstStyle/>
                    <a:p>
                      <a:pPr>
                        <a:defRPr sz="950">
                          <a:solidFill>
                            <a:srgbClr val="2C3E50"/>
                          </a:solidFill>
                        </a:defRPr>
                      </a:pPr>
                      <a:r>
                        <a:t>3. Production Flyer &amp; Vidéo</a:t>
                      </a:r>
                    </a:p>
                  </a:txBody>
                  <a:tcPr>
                    <a:solidFill>
                      <a:srgbClr val="F5F7FA"/>
                    </a:solidFill>
                  </a:tcPr>
                </a:tc>
                <a:tc>
                  <a:txBody>
                    <a:bodyPr/>
                    <a:lstStyle/>
                    <a:p>
                      <a:pPr>
                        <a:defRPr sz="950">
                          <a:solidFill>
                            <a:srgbClr val="2C3E50"/>
                          </a:solidFill>
                        </a:defRPr>
                      </a:pPr>
                      <a:r>
                        <a:t>S2-S3 (8j)</a:t>
                      </a:r>
                    </a:p>
                  </a:txBody>
                  <a:tcPr>
                    <a:solidFill>
                      <a:srgbClr val="F5F7FA"/>
                    </a:solidFill>
                  </a:tcPr>
                </a:tc>
                <a:tc>
                  <a:txBody>
                    <a:bodyPr/>
                    <a:lstStyle/>
                    <a:p>
                      <a:pPr>
                        <a:defRPr sz="950">
                          <a:solidFill>
                            <a:srgbClr val="2C3E50"/>
                          </a:solidFill>
                        </a:defRPr>
                      </a:pPr>
                      <a:r>
                        <a:t>Graphiste + Vidéaste</a:t>
                      </a:r>
                    </a:p>
                  </a:txBody>
                  <a:tcPr>
                    <a:solidFill>
                      <a:srgbClr val="F5F7FA"/>
                    </a:solidFill>
                  </a:tcPr>
                </a:tc>
                <a:tc>
                  <a:txBody>
                    <a:bodyPr/>
                    <a:lstStyle/>
                    <a:p>
                      <a:pPr>
                        <a:defRPr sz="950" b="1">
                          <a:solidFill>
                            <a:srgbClr val="2C3E50"/>
                          </a:solidFill>
                        </a:defRPr>
                      </a:pPr>
                      <a:r>
                        <a:t>450 000</a:t>
                      </a:r>
                    </a:p>
                  </a:txBody>
                  <a:tcPr>
                    <a:solidFill>
                      <a:srgbClr val="F5F7FA"/>
                    </a:solidFill>
                  </a:tcPr>
                </a:tc>
              </a:tr>
              <a:tr h="613954">
                <a:tc>
                  <a:txBody>
                    <a:bodyPr/>
                    <a:lstStyle/>
                    <a:p>
                      <a:pPr>
                        <a:defRPr sz="950">
                          <a:solidFill>
                            <a:srgbClr val="2C3E50"/>
                          </a:solidFill>
                        </a:defRPr>
                      </a:pPr>
                      <a:r>
                        <a:t>4. Validation interne ◆</a:t>
                      </a:r>
                    </a:p>
                  </a:txBody>
                  <a:tcPr>
                    <a:solidFill>
                      <a:srgbClr val="FFFFFF"/>
                    </a:solidFill>
                  </a:tcPr>
                </a:tc>
                <a:tc>
                  <a:txBody>
                    <a:bodyPr/>
                    <a:lstStyle/>
                    <a:p>
                      <a:pPr>
                        <a:defRPr sz="950">
                          <a:solidFill>
                            <a:srgbClr val="2C3E50"/>
                          </a:solidFill>
                        </a:defRPr>
                      </a:pPr>
                      <a:r>
                        <a:t>Fin S3 (0j)</a:t>
                      </a:r>
                    </a:p>
                  </a:txBody>
                  <a:tcPr>
                    <a:solidFill>
                      <a:srgbClr val="FFFFFF"/>
                    </a:solidFill>
                  </a:tcPr>
                </a:tc>
                <a:tc>
                  <a:txBody>
                    <a:bodyPr/>
                    <a:lstStyle/>
                    <a:p>
                      <a:pPr>
                        <a:defRPr sz="950">
                          <a:solidFill>
                            <a:srgbClr val="2C3E50"/>
                          </a:solidFill>
                        </a:defRPr>
                      </a:pPr>
                      <a:r>
                        <a:t>Tuteur / Client</a:t>
                      </a:r>
                    </a:p>
                  </a:txBody>
                  <a:tcPr>
                    <a:solidFill>
                      <a:srgbClr val="FFFFFF"/>
                    </a:solidFill>
                  </a:tcPr>
                </a:tc>
                <a:tc>
                  <a:txBody>
                    <a:bodyPr/>
                    <a:lstStyle/>
                    <a:p>
                      <a:pPr>
                        <a:defRPr sz="950">
                          <a:solidFill>
                            <a:srgbClr val="2C3E50"/>
                          </a:solidFill>
                        </a:defRPr>
                      </a:pPr>
                      <a:r>
                        <a:t>0 (Jalon)</a:t>
                      </a:r>
                    </a:p>
                  </a:txBody>
                  <a:tcPr>
                    <a:solidFill>
                      <a:srgbClr val="FFFFFF"/>
                    </a:solidFill>
                  </a:tcPr>
                </a:tc>
              </a:tr>
              <a:tr h="613954">
                <a:tc>
                  <a:txBody>
                    <a:bodyPr/>
                    <a:lstStyle/>
                    <a:p>
                      <a:pPr>
                        <a:defRPr sz="950">
                          <a:solidFill>
                            <a:srgbClr val="2C3E50"/>
                          </a:solidFill>
                        </a:defRPr>
                      </a:pPr>
                      <a:r>
                        <a:t>5. Campagne Ads (Meta/TikTok)</a:t>
                      </a:r>
                    </a:p>
                  </a:txBody>
                  <a:tcPr>
                    <a:solidFill>
                      <a:srgbClr val="F5F7FA"/>
                    </a:solidFill>
                  </a:tcPr>
                </a:tc>
                <a:tc>
                  <a:txBody>
                    <a:bodyPr/>
                    <a:lstStyle/>
                    <a:p>
                      <a:pPr>
                        <a:defRPr sz="950">
                          <a:solidFill>
                            <a:srgbClr val="2C3E50"/>
                          </a:solidFill>
                        </a:defRPr>
                      </a:pPr>
                      <a:r>
                        <a:t>S4-S5 (14j)</a:t>
                      </a:r>
                    </a:p>
                  </a:txBody>
                  <a:tcPr>
                    <a:solidFill>
                      <a:srgbClr val="F5F7FA"/>
                    </a:solidFill>
                  </a:tcPr>
                </a:tc>
                <a:tc>
                  <a:txBody>
                    <a:bodyPr/>
                    <a:lstStyle/>
                    <a:p>
                      <a:pPr>
                        <a:defRPr sz="950">
                          <a:solidFill>
                            <a:srgbClr val="2C3E50"/>
                          </a:solidFill>
                        </a:defRPr>
                      </a:pPr>
                      <a:r>
                        <a:t>Traffic Manager</a:t>
                      </a:r>
                    </a:p>
                  </a:txBody>
                  <a:tcPr>
                    <a:solidFill>
                      <a:srgbClr val="F5F7FA"/>
                    </a:solidFill>
                  </a:tcPr>
                </a:tc>
                <a:tc>
                  <a:txBody>
                    <a:bodyPr/>
                    <a:lstStyle/>
                    <a:p>
                      <a:pPr>
                        <a:defRPr sz="950" b="1">
                          <a:solidFill>
                            <a:srgbClr val="2C3E50"/>
                          </a:solidFill>
                        </a:defRPr>
                      </a:pPr>
                      <a:r>
                        <a:t>850 000</a:t>
                      </a:r>
                    </a:p>
                  </a:txBody>
                  <a:tcPr>
                    <a:solidFill>
                      <a:srgbClr val="F5F7FA"/>
                    </a:solidFill>
                  </a:tcPr>
                </a:tc>
              </a:tr>
              <a:tr h="613956">
                <a:tc>
                  <a:txBody>
                    <a:bodyPr/>
                    <a:lstStyle/>
                    <a:p>
                      <a:pPr>
                        <a:defRPr sz="950">
                          <a:solidFill>
                            <a:srgbClr val="2C3E50"/>
                          </a:solidFill>
                        </a:defRPr>
                      </a:pPr>
                      <a:r>
                        <a:t>6. Bilan &amp; Reporting final ◆</a:t>
                      </a:r>
                    </a:p>
                  </a:txBody>
                  <a:tcPr>
                    <a:solidFill>
                      <a:srgbClr val="FFFFFF"/>
                    </a:solidFill>
                  </a:tcPr>
                </a:tc>
                <a:tc>
                  <a:txBody>
                    <a:bodyPr/>
                    <a:lstStyle/>
                    <a:p>
                      <a:pPr>
                        <a:defRPr sz="950">
                          <a:solidFill>
                            <a:srgbClr val="2C3E50"/>
                          </a:solidFill>
                        </a:defRPr>
                      </a:pPr>
                      <a:r>
                        <a:t>S6 (4j)</a:t>
                      </a:r>
                    </a:p>
                  </a:txBody>
                  <a:tcPr>
                    <a:solidFill>
                      <a:srgbClr val="FFFFFF"/>
                    </a:solidFill>
                  </a:tcPr>
                </a:tc>
                <a:tc>
                  <a:txBody>
                    <a:bodyPr/>
                    <a:lstStyle/>
                    <a:p>
                      <a:pPr>
                        <a:defRPr sz="950">
                          <a:solidFill>
                            <a:srgbClr val="2C3E50"/>
                          </a:solidFill>
                        </a:defRPr>
                      </a:pPr>
                      <a:r>
                        <a:t>Data Analyst</a:t>
                      </a:r>
                    </a:p>
                  </a:txBody>
                  <a:tcPr>
                    <a:solidFill>
                      <a:srgbClr val="FFFFFF"/>
                    </a:solidFill>
                  </a:tcPr>
                </a:tc>
                <a:tc>
                  <a:txBody>
                    <a:bodyPr/>
                    <a:lstStyle/>
                    <a:p>
                      <a:pPr>
                        <a:defRPr sz="950" b="1">
                          <a:solidFill>
                            <a:srgbClr val="2C3E50"/>
                          </a:solidFill>
                        </a:defRPr>
                      </a:pPr>
                      <a:r>
                        <a:t>180 000</a:t>
                      </a:r>
                    </a:p>
                  </a:txBody>
                  <a:tcPr>
                    <a:solidFill>
                      <a:srgbClr val="FFFFFF"/>
                    </a:solidFill>
                  </a:tcPr>
                </a:tc>
              </a:tr>
            </a:tbl>
          </a:graphicData>
        </a:graphic>
      </p:graphicFrame>
      <p:sp>
        <p:nvSpPr>
          <p:cNvPr id="10" name="Rounded Rectangle 9"/>
          <p:cNvSpPr/>
          <p:nvPr/>
        </p:nvSpPr>
        <p:spPr>
          <a:xfrm>
            <a:off x="7589520" y="1280160"/>
            <a:ext cx="3870655" cy="48463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500" b="1">
                <a:solidFill>
                  <a:srgbClr val="0D9488"/>
                </a:solidFill>
              </a:defRPr>
            </a:pPr>
            <a:r>
              <a:t>💰 Budget Consolidé &amp; Répartition</a:t>
            </a:r>
          </a:p>
          <a:p>
            <a:pPr>
              <a:spcBef>
                <a:spcPts val="800"/>
              </a:spcBef>
              <a:defRPr sz="1150">
                <a:solidFill>
                  <a:srgbClr val="5A6A7A"/>
                </a:solidFill>
              </a:defRPr>
            </a:pPr>
            <a:r>
              <a:t>Coûts RH &amp; Prestations :</a:t>
            </a:r>
          </a:p>
          <a:p>
            <a:pPr>
              <a:defRPr sz="1300" b="1">
                <a:solidFill>
                  <a:srgbClr val="1A3A5C"/>
                </a:solidFill>
              </a:defRPr>
            </a:pPr>
            <a:r>
              <a:t>900 000 FCFA (45%)</a:t>
            </a:r>
          </a:p>
          <a:p>
            <a:pPr>
              <a:spcBef>
                <a:spcPts val="800"/>
              </a:spcBef>
              <a:defRPr sz="1150">
                <a:solidFill>
                  <a:srgbClr val="5A6A7A"/>
                </a:solidFill>
              </a:defRPr>
            </a:pPr>
            <a:r>
              <a:t>Achat Média (Publicité) :</a:t>
            </a:r>
          </a:p>
          <a:p>
            <a:pPr>
              <a:defRPr sz="1300" b="1">
                <a:solidFill>
                  <a:srgbClr val="1A3A5C"/>
                </a:solidFill>
              </a:defRPr>
            </a:pPr>
            <a:r>
              <a:t>750 000 FCFA (37,5%)</a:t>
            </a:r>
          </a:p>
          <a:p>
            <a:pPr>
              <a:spcBef>
                <a:spcPts val="800"/>
              </a:spcBef>
              <a:defRPr sz="1150">
                <a:solidFill>
                  <a:srgbClr val="5A6A7A"/>
                </a:solidFill>
              </a:defRPr>
            </a:pPr>
            <a:r>
              <a:t>Outils, Licences &amp; Matériel :</a:t>
            </a:r>
          </a:p>
          <a:p>
            <a:pPr>
              <a:defRPr sz="1300" b="1">
                <a:solidFill>
                  <a:srgbClr val="1A3A5C"/>
                </a:solidFill>
              </a:defRPr>
            </a:pPr>
            <a:r>
              <a:t>100 000 FCFA (5%)</a:t>
            </a:r>
          </a:p>
          <a:p>
            <a:pPr>
              <a:spcBef>
                <a:spcPts val="800"/>
              </a:spcBef>
              <a:defRPr sz="1150">
                <a:solidFill>
                  <a:srgbClr val="5A6A7A"/>
                </a:solidFill>
              </a:defRPr>
            </a:pPr>
            <a:r>
              <a:t>Marge d'Imprévus (12,5%) :</a:t>
            </a:r>
          </a:p>
          <a:p>
            <a:pPr>
              <a:defRPr sz="1300" b="1">
                <a:solidFill>
                  <a:srgbClr val="1A3A5C"/>
                </a:solidFill>
              </a:defRPr>
            </a:pPr>
            <a:r>
              <a:t>250 000 FCFA (12,5%)</a:t>
            </a:r>
          </a:p>
        </p:txBody>
      </p:sp>
      <p:sp>
        <p:nvSpPr>
          <p:cNvPr id="11" name="Rounded Rectangle 10"/>
          <p:cNvSpPr/>
          <p:nvPr/>
        </p:nvSpPr>
        <p:spPr>
          <a:xfrm>
            <a:off x="7772400" y="4937760"/>
            <a:ext cx="3474720" cy="1005840"/>
          </a:xfrm>
          <a:prstGeom prst="roundRect">
            <a:avLst/>
          </a:prstGeom>
          <a:solidFill>
            <a:srgbClr val="1A3A5C"/>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100">
                <a:solidFill>
                  <a:srgbClr val="E8912D"/>
                </a:solidFill>
              </a:defRPr>
            </a:pPr>
            <a:r>
              <a:t>TOTAL BUDGET CAMPAGNE :</a:t>
            </a:r>
          </a:p>
          <a:p>
            <a:pPr>
              <a:defRPr sz="1800" b="1">
                <a:solidFill>
                  <a:srgbClr val="FFFFFF"/>
                </a:solidFill>
              </a:defRPr>
            </a:pPr>
            <a:r>
              <a:t>2 000 000 FCFA (~3 050 €)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Décryptage de la Grille Officielle du Livrable PP2 (/6 points)</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19/22</a:t>
            </a:r>
          </a:p>
        </p:txBody>
      </p:sp>
      <p:graphicFrame>
        <p:nvGraphicFramePr>
          <p:cNvPr id="8" name="Table 7"/>
          <p:cNvGraphicFramePr>
            <a:graphicFrameLocks noGrp="1"/>
          </p:cNvGraphicFramePr>
          <p:nvPr/>
        </p:nvGraphicFramePr>
        <p:xfrm>
          <a:off x="731520" y="1325880"/>
          <a:ext cx="10728655" cy="4846320"/>
        </p:xfrm>
        <a:graphic>
          <a:graphicData uri="http://schemas.openxmlformats.org/drawingml/2006/table">
            <a:tbl>
              <a:tblPr firstRow="1" bandRow="1">
                <a:tableStyleId>{5C22544A-7EE6-4342-B048-85BDC9FD1C3A}</a:tableStyleId>
              </a:tblPr>
              <a:tblGrid>
                <a:gridCol w="2926080"/>
                <a:gridCol w="1097280"/>
                <a:gridCol w="6705295"/>
              </a:tblGrid>
              <a:tr h="692331">
                <a:tc>
                  <a:txBody>
                    <a:bodyPr/>
                    <a:lstStyle/>
                    <a:p>
                      <a:pPr>
                        <a:defRPr sz="1100" b="1">
                          <a:solidFill>
                            <a:srgbClr val="FFFFFF"/>
                          </a:solidFill>
                        </a:defRPr>
                      </a:pPr>
                      <a:r>
                        <a:t>Critère Officiel</a:t>
                      </a:r>
                    </a:p>
                  </a:txBody>
                  <a:tcPr>
                    <a:solidFill>
                      <a:srgbClr val="1A3A5C"/>
                    </a:solidFill>
                  </a:tcPr>
                </a:tc>
                <a:tc>
                  <a:txBody>
                    <a:bodyPr/>
                    <a:lstStyle/>
                    <a:p>
                      <a:pPr>
                        <a:defRPr sz="1100" b="1">
                          <a:solidFill>
                            <a:srgbClr val="FFFFFF"/>
                          </a:solidFill>
                        </a:defRPr>
                      </a:pPr>
                      <a:r>
                        <a:t>Barème</a:t>
                      </a:r>
                    </a:p>
                  </a:txBody>
                  <a:tcPr>
                    <a:solidFill>
                      <a:srgbClr val="1A3A5C"/>
                    </a:solidFill>
                  </a:tcPr>
                </a:tc>
                <a:tc>
                  <a:txBody>
                    <a:bodyPr/>
                    <a:lstStyle/>
                    <a:p>
                      <a:pPr>
                        <a:defRPr sz="1100" b="1">
                          <a:solidFill>
                            <a:srgbClr val="FFFFFF"/>
                          </a:solidFill>
                        </a:defRPr>
                      </a:pPr>
                      <a:r>
                        <a:t>Ce qui donne la note maximale (Conseils Tuteur)</a:t>
                      </a:r>
                    </a:p>
                  </a:txBody>
                  <a:tcPr>
                    <a:solidFill>
                      <a:srgbClr val="1A3A5C"/>
                    </a:solidFill>
                  </a:tcPr>
                </a:tc>
              </a:tr>
              <a:tr h="692331">
                <a:tc>
                  <a:txBody>
                    <a:bodyPr/>
                    <a:lstStyle/>
                    <a:p>
                      <a:pPr>
                        <a:defRPr sz="1050" b="1">
                          <a:solidFill>
                            <a:srgbClr val="1A3A5C"/>
                          </a:solidFill>
                        </a:defRPr>
                      </a:pPr>
                      <a:r>
                        <a:t>1. Planning Gantt</a:t>
                      </a:r>
                    </a:p>
                  </a:txBody>
                  <a:tcPr>
                    <a:solidFill>
                      <a:srgbClr val="F5F7FA"/>
                    </a:solidFill>
                  </a:tcPr>
                </a:tc>
                <a:tc>
                  <a:txBody>
                    <a:bodyPr/>
                    <a:lstStyle/>
                    <a:p>
                      <a:pPr algn="ctr">
                        <a:defRPr sz="1050" b="1">
                          <a:solidFill>
                            <a:srgbClr val="E8912D"/>
                          </a:solidFill>
                        </a:defRPr>
                      </a:pPr>
                      <a:r>
                        <a:t>/1 pt</a:t>
                      </a:r>
                    </a:p>
                  </a:txBody>
                  <a:tcPr>
                    <a:solidFill>
                      <a:srgbClr val="F5F7FA"/>
                    </a:solidFill>
                  </a:tcPr>
                </a:tc>
                <a:tc>
                  <a:txBody>
                    <a:bodyPr/>
                    <a:lstStyle/>
                    <a:p>
                      <a:pPr>
                        <a:defRPr sz="1050">
                          <a:solidFill>
                            <a:srgbClr val="2C3E50"/>
                          </a:solidFill>
                        </a:defRPr>
                      </a:pPr>
                      <a:r>
                        <a:t>Gantt complet, lisible, chronologie impeccable avec phases, tâches, dates et jalons visibles. 0 pt si simple to-do list ou visuel illisible.</a:t>
                      </a:r>
                    </a:p>
                  </a:txBody>
                  <a:tcPr>
                    <a:solidFill>
                      <a:srgbClr val="F5F7FA"/>
                    </a:solidFill>
                  </a:tcPr>
                </a:tc>
              </a:tr>
              <a:tr h="692331">
                <a:tc>
                  <a:txBody>
                    <a:bodyPr/>
                    <a:lstStyle/>
                    <a:p>
                      <a:pPr>
                        <a:defRPr sz="1050" b="1">
                          <a:solidFill>
                            <a:srgbClr val="1A3A5C"/>
                          </a:solidFill>
                        </a:defRPr>
                      </a:pPr>
                      <a:r>
                        <a:t>2. Pertinence des tâches</a:t>
                      </a:r>
                    </a:p>
                  </a:txBody>
                  <a:tcPr>
                    <a:solidFill>
                      <a:srgbClr val="FFFFFF"/>
                    </a:solidFill>
                  </a:tcPr>
                </a:tc>
                <a:tc>
                  <a:txBody>
                    <a:bodyPr/>
                    <a:lstStyle/>
                    <a:p>
                      <a:pPr algn="ctr">
                        <a:defRPr sz="1050" b="1">
                          <a:solidFill>
                            <a:srgbClr val="E8912D"/>
                          </a:solidFill>
                        </a:defRPr>
                      </a:pPr>
                      <a:r>
                        <a:t>/1 pt</a:t>
                      </a:r>
                    </a:p>
                  </a:txBody>
                  <a:tcPr>
                    <a:solidFill>
                      <a:srgbClr val="FFFFFF"/>
                    </a:solidFill>
                  </a:tcPr>
                </a:tc>
                <a:tc>
                  <a:txBody>
                    <a:bodyPr/>
                    <a:lstStyle/>
                    <a:p>
                      <a:pPr>
                        <a:defRPr sz="1050">
                          <a:solidFill>
                            <a:srgbClr val="2C3E50"/>
                          </a:solidFill>
                        </a:defRPr>
                      </a:pPr>
                      <a:r>
                        <a:t>Alignement parfait avec le Livrable 1 (PP1). Les tâches réalisent exactement les actions d'acquisition et de rétention prévues.</a:t>
                      </a:r>
                    </a:p>
                  </a:txBody>
                  <a:tcPr>
                    <a:solidFill>
                      <a:srgbClr val="FFFFFF"/>
                    </a:solidFill>
                  </a:tcPr>
                </a:tc>
              </a:tr>
              <a:tr h="692331">
                <a:tc>
                  <a:txBody>
                    <a:bodyPr/>
                    <a:lstStyle/>
                    <a:p>
                      <a:pPr>
                        <a:defRPr sz="1050" b="1">
                          <a:solidFill>
                            <a:srgbClr val="1A3A5C"/>
                          </a:solidFill>
                        </a:defRPr>
                      </a:pPr>
                      <a:r>
                        <a:t>3. Pertinence des RH</a:t>
                      </a:r>
                    </a:p>
                  </a:txBody>
                  <a:tcPr>
                    <a:solidFill>
                      <a:srgbClr val="F5F7FA"/>
                    </a:solidFill>
                  </a:tcPr>
                </a:tc>
                <a:tc>
                  <a:txBody>
                    <a:bodyPr/>
                    <a:lstStyle/>
                    <a:p>
                      <a:pPr algn="ctr">
                        <a:defRPr sz="1050" b="1">
                          <a:solidFill>
                            <a:srgbClr val="E8912D"/>
                          </a:solidFill>
                        </a:defRPr>
                      </a:pPr>
                      <a:r>
                        <a:t>/1 pt</a:t>
                      </a:r>
                    </a:p>
                  </a:txBody>
                  <a:tcPr>
                    <a:solidFill>
                      <a:srgbClr val="F5F7FA"/>
                    </a:solidFill>
                  </a:tcPr>
                </a:tc>
                <a:tc>
                  <a:txBody>
                    <a:bodyPr/>
                    <a:lstStyle/>
                    <a:p>
                      <a:pPr>
                        <a:defRPr sz="1050">
                          <a:solidFill>
                            <a:srgbClr val="2C3E50"/>
                          </a:solidFill>
                        </a:defRPr>
                      </a:pPr>
                      <a:r>
                        <a:t>Chaque tâche est associée à un profil métier précis et réaliste (CM, graphiste, rédacteur, chef de projet...). 0 pt si aucune RH.</a:t>
                      </a:r>
                    </a:p>
                  </a:txBody>
                  <a:tcPr>
                    <a:solidFill>
                      <a:srgbClr val="F5F7FA"/>
                    </a:solidFill>
                  </a:tcPr>
                </a:tc>
              </a:tr>
              <a:tr h="692331">
                <a:tc>
                  <a:txBody>
                    <a:bodyPr/>
                    <a:lstStyle/>
                    <a:p>
                      <a:pPr>
                        <a:defRPr sz="1050" b="1">
                          <a:solidFill>
                            <a:srgbClr val="1A3A5C"/>
                          </a:solidFill>
                        </a:defRPr>
                      </a:pPr>
                      <a:r>
                        <a:t>4. Cohérence globale</a:t>
                      </a:r>
                    </a:p>
                  </a:txBody>
                  <a:tcPr>
                    <a:solidFill>
                      <a:srgbClr val="FFFFFF"/>
                    </a:solidFill>
                  </a:tcPr>
                </a:tc>
                <a:tc>
                  <a:txBody>
                    <a:bodyPr/>
                    <a:lstStyle/>
                    <a:p>
                      <a:pPr algn="ctr">
                        <a:defRPr sz="1050" b="1">
                          <a:solidFill>
                            <a:srgbClr val="E8912D"/>
                          </a:solidFill>
                        </a:defRPr>
                      </a:pPr>
                      <a:r>
                        <a:t>/1 pt</a:t>
                      </a:r>
                    </a:p>
                  </a:txBody>
                  <a:tcPr>
                    <a:solidFill>
                      <a:srgbClr val="FFFFFF"/>
                    </a:solidFill>
                  </a:tcPr>
                </a:tc>
                <a:tc>
                  <a:txBody>
                    <a:bodyPr/>
                    <a:lstStyle/>
                    <a:p>
                      <a:pPr>
                        <a:defRPr sz="1050">
                          <a:solidFill>
                            <a:srgbClr val="2C3E50"/>
                          </a:solidFill>
                        </a:defRPr>
                      </a:pPr>
                      <a:r>
                        <a:t>Équilibre d'ensemble (temps, budget, RH). Délais crédibles et budget proportionné au projet choisi.</a:t>
                      </a:r>
                    </a:p>
                  </a:txBody>
                  <a:tcPr>
                    <a:solidFill>
                      <a:srgbClr val="FFFFFF"/>
                    </a:solidFill>
                  </a:tcPr>
                </a:tc>
              </a:tr>
              <a:tr h="692331">
                <a:tc>
                  <a:txBody>
                    <a:bodyPr/>
                    <a:lstStyle/>
                    <a:p>
                      <a:pPr>
                        <a:defRPr sz="1050" b="1">
                          <a:solidFill>
                            <a:srgbClr val="1A3A5C"/>
                          </a:solidFill>
                        </a:defRPr>
                      </a:pPr>
                      <a:r>
                        <a:t>5. Critère Tuteur 1 : Budget</a:t>
                      </a:r>
                    </a:p>
                  </a:txBody>
                  <a:tcPr>
                    <a:solidFill>
                      <a:srgbClr val="F5F7FA"/>
                    </a:solidFill>
                  </a:tcPr>
                </a:tc>
                <a:tc>
                  <a:txBody>
                    <a:bodyPr/>
                    <a:lstStyle/>
                    <a:p>
                      <a:pPr algn="ctr">
                        <a:defRPr sz="1050" b="1">
                          <a:solidFill>
                            <a:srgbClr val="E8912D"/>
                          </a:solidFill>
                        </a:defRPr>
                      </a:pPr>
                      <a:r>
                        <a:t>/1 pt</a:t>
                      </a:r>
                    </a:p>
                  </a:txBody>
                  <a:tcPr>
                    <a:solidFill>
                      <a:srgbClr val="F5F7FA"/>
                    </a:solidFill>
                  </a:tcPr>
                </a:tc>
                <a:tc>
                  <a:txBody>
                    <a:bodyPr/>
                    <a:lstStyle/>
                    <a:p>
                      <a:pPr>
                        <a:defRPr sz="1050">
                          <a:solidFill>
                            <a:srgbClr val="2C3E50"/>
                          </a:solidFill>
                        </a:defRPr>
                      </a:pPr>
                      <a:r>
                        <a:t>Précision et granularité du chiffrage par tâche (détail RH vs média vs outils au lieu d'un montant vague).</a:t>
                      </a:r>
                    </a:p>
                  </a:txBody>
                  <a:tcPr>
                    <a:solidFill>
                      <a:srgbClr val="F5F7FA"/>
                    </a:solidFill>
                  </a:tcPr>
                </a:tc>
              </a:tr>
              <a:tr h="692334">
                <a:tc>
                  <a:txBody>
                    <a:bodyPr/>
                    <a:lstStyle/>
                    <a:p>
                      <a:pPr>
                        <a:defRPr sz="1050" b="1">
                          <a:solidFill>
                            <a:srgbClr val="1A3A5C"/>
                          </a:solidFill>
                        </a:defRPr>
                      </a:pPr>
                      <a:r>
                        <a:t>6. Critère Tuteur 2 : Sécurité</a:t>
                      </a:r>
                    </a:p>
                  </a:txBody>
                  <a:tcPr>
                    <a:solidFill>
                      <a:srgbClr val="FFFFFF"/>
                    </a:solidFill>
                  </a:tcPr>
                </a:tc>
                <a:tc>
                  <a:txBody>
                    <a:bodyPr/>
                    <a:lstStyle/>
                    <a:p>
                      <a:pPr algn="ctr">
                        <a:defRPr sz="1050" b="1">
                          <a:solidFill>
                            <a:srgbClr val="E8912D"/>
                          </a:solidFill>
                        </a:defRPr>
                      </a:pPr>
                      <a:r>
                        <a:t>/1 pt</a:t>
                      </a:r>
                    </a:p>
                  </a:txBody>
                  <a:tcPr>
                    <a:solidFill>
                      <a:srgbClr val="FFFFFF"/>
                    </a:solidFill>
                  </a:tcPr>
                </a:tc>
                <a:tc>
                  <a:txBody>
                    <a:bodyPr/>
                    <a:lstStyle/>
                    <a:p>
                      <a:pPr>
                        <a:defRPr sz="1050">
                          <a:solidFill>
                            <a:srgbClr val="2C3E50"/>
                          </a:solidFill>
                        </a:defRPr>
                      </a:pPr>
                      <a:r>
                        <a:t>Présence d'une marge pour imprévus (10-15%) et logique claire des jalons de validation intermédiaire.</a:t>
                      </a:r>
                    </a:p>
                  </a:txBody>
                  <a:tcP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Les 5 Erreurs Éliminatoires à éviter absolument</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20/22</a:t>
            </a:r>
          </a:p>
        </p:txBody>
      </p:sp>
      <p:sp>
        <p:nvSpPr>
          <p:cNvPr id="8" name="Rounded Rectangle 7"/>
          <p:cNvSpPr/>
          <p:nvPr/>
        </p:nvSpPr>
        <p:spPr>
          <a:xfrm>
            <a:off x="731520" y="1325880"/>
            <a:ext cx="10728655" cy="777240"/>
          </a:xfrm>
          <a:prstGeom prst="roundRect">
            <a:avLst/>
          </a:prstGeom>
          <a:solidFill>
            <a:srgbClr val="FEF2F2"/>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D9534F"/>
                </a:solidFill>
              </a:defRPr>
            </a:pPr>
            <a:r>
              <a:t>🚨 CE QUE LES TUTEURS CORRIGENT EN PREMIER (ET QUI FAIT PERDRE DES POINTS) :</a:t>
            </a:r>
          </a:p>
        </p:txBody>
      </p:sp>
      <p:sp>
        <p:nvSpPr>
          <p:cNvPr id="9" name="Rounded Rectangle 8"/>
          <p:cNvSpPr/>
          <p:nvPr/>
        </p:nvSpPr>
        <p:spPr>
          <a:xfrm>
            <a:off x="731520" y="2240280"/>
            <a:ext cx="10728655" cy="74980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368296"/>
            <a:ext cx="2377440" cy="47548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1. Le Gantt To-Do List</a:t>
            </a:r>
          </a:p>
        </p:txBody>
      </p:sp>
      <p:sp>
        <p:nvSpPr>
          <p:cNvPr id="11" name="TextBox 10"/>
          <p:cNvSpPr txBox="1"/>
          <p:nvPr/>
        </p:nvSpPr>
        <p:spPr>
          <a:xfrm>
            <a:off x="3474720" y="2313432"/>
            <a:ext cx="7772400" cy="594360"/>
          </a:xfrm>
          <a:prstGeom prst="rect">
            <a:avLst/>
          </a:prstGeom>
          <a:noFill/>
        </p:spPr>
        <p:txBody>
          <a:bodyPr wrap="square" lIns="0" rIns="0">
            <a:spAutoFit/>
          </a:bodyPr>
          <a:lstStyle/>
          <a:p>
            <a:pPr>
              <a:defRPr sz="1150">
                <a:solidFill>
                  <a:srgbClr val="2C3E50"/>
                </a:solidFill>
              </a:defRPr>
            </a:pPr>
            <a:r>
              <a:t>Faire un tableau avec des tâches mais sans dates calendaires, sans barres horizontales ni chronologie visible. C'est 0/1 d'office sur le critère 1 !</a:t>
            </a:r>
          </a:p>
        </p:txBody>
      </p:sp>
      <p:sp>
        <p:nvSpPr>
          <p:cNvPr id="12" name="Rounded Rectangle 11"/>
          <p:cNvSpPr/>
          <p:nvPr/>
        </p:nvSpPr>
        <p:spPr>
          <a:xfrm>
            <a:off x="731520" y="3063240"/>
            <a:ext cx="10728655" cy="74980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191256"/>
            <a:ext cx="2377440" cy="47548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2. Les Antériorités Oubliées</a:t>
            </a:r>
          </a:p>
        </p:txBody>
      </p:sp>
      <p:sp>
        <p:nvSpPr>
          <p:cNvPr id="14" name="TextBox 13"/>
          <p:cNvSpPr txBox="1"/>
          <p:nvPr/>
        </p:nvSpPr>
        <p:spPr>
          <a:xfrm>
            <a:off x="3474720" y="3136392"/>
            <a:ext cx="7772400" cy="594360"/>
          </a:xfrm>
          <a:prstGeom prst="rect">
            <a:avLst/>
          </a:prstGeom>
          <a:noFill/>
        </p:spPr>
        <p:txBody>
          <a:bodyPr wrap="square" lIns="0" rIns="0">
            <a:spAutoFit/>
          </a:bodyPr>
          <a:lstStyle/>
          <a:p>
            <a:pPr>
              <a:defRPr sz="1150">
                <a:solidFill>
                  <a:srgbClr val="2C3E50"/>
                </a:solidFill>
              </a:defRPr>
            </a:pPr>
            <a:r>
              <a:t>Placer des tâches dans le désordre ou faire tout commencer le jour 1 en même temps (ex : lancer la pub Facebook avant d'avoir écrit le script ou monté la vidéo).</a:t>
            </a:r>
          </a:p>
        </p:txBody>
      </p:sp>
      <p:sp>
        <p:nvSpPr>
          <p:cNvPr id="15" name="Rounded Rectangle 14"/>
          <p:cNvSpPr/>
          <p:nvPr/>
        </p:nvSpPr>
        <p:spPr>
          <a:xfrm>
            <a:off x="731520" y="3886200"/>
            <a:ext cx="10728655" cy="74980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014216"/>
            <a:ext cx="2377440" cy="47548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3. Le Budget Fantaisiste</a:t>
            </a:r>
          </a:p>
        </p:txBody>
      </p:sp>
      <p:sp>
        <p:nvSpPr>
          <p:cNvPr id="17" name="TextBox 16"/>
          <p:cNvSpPr txBox="1"/>
          <p:nvPr/>
        </p:nvSpPr>
        <p:spPr>
          <a:xfrm>
            <a:off x="3474720" y="3959352"/>
            <a:ext cx="7772400" cy="594360"/>
          </a:xfrm>
          <a:prstGeom prst="rect">
            <a:avLst/>
          </a:prstGeom>
          <a:noFill/>
        </p:spPr>
        <p:txBody>
          <a:bodyPr wrap="square" lIns="0" rIns="0">
            <a:spAutoFit/>
          </a:bodyPr>
          <a:lstStyle/>
          <a:p>
            <a:pPr>
              <a:defRPr sz="1150">
                <a:solidFill>
                  <a:srgbClr val="2C3E50"/>
                </a:solidFill>
              </a:defRPr>
            </a:pPr>
            <a:r>
              <a:t>Indiquer un budget total de 0 FCFA (« tout est gratuit ») ou au contraire 50 millions sans aucune justification unitaire. Un projet marketing a toujours un coût réel.</a:t>
            </a:r>
          </a:p>
        </p:txBody>
      </p:sp>
      <p:sp>
        <p:nvSpPr>
          <p:cNvPr id="18" name="Rounded Rectangle 17"/>
          <p:cNvSpPr/>
          <p:nvPr/>
        </p:nvSpPr>
        <p:spPr>
          <a:xfrm>
            <a:off x="731520" y="4709160"/>
            <a:ext cx="10728655" cy="74980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4837176"/>
            <a:ext cx="2377440" cy="47548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4. L'Oubli des Profils RH</a:t>
            </a:r>
          </a:p>
        </p:txBody>
      </p:sp>
      <p:sp>
        <p:nvSpPr>
          <p:cNvPr id="20" name="TextBox 19"/>
          <p:cNvSpPr txBox="1"/>
          <p:nvPr/>
        </p:nvSpPr>
        <p:spPr>
          <a:xfrm>
            <a:off x="3474720" y="4782312"/>
            <a:ext cx="7772400" cy="594360"/>
          </a:xfrm>
          <a:prstGeom prst="rect">
            <a:avLst/>
          </a:prstGeom>
          <a:noFill/>
        </p:spPr>
        <p:txBody>
          <a:bodyPr wrap="square" lIns="0" rIns="0">
            <a:spAutoFit/>
          </a:bodyPr>
          <a:lstStyle/>
          <a:p>
            <a:pPr>
              <a:defRPr sz="1150">
                <a:solidFill>
                  <a:srgbClr val="2C3E50"/>
                </a:solidFill>
              </a:defRPr>
            </a:pPr>
            <a:r>
              <a:t>Ne mentionner aucun responsable ou écrire simplement « l'équipe ». Il faut nommer le profil expert (Community manager, Monteur vidéo, etc.).</a:t>
            </a:r>
          </a:p>
        </p:txBody>
      </p:sp>
      <p:sp>
        <p:nvSpPr>
          <p:cNvPr id="21" name="Rounded Rectangle 20"/>
          <p:cNvSpPr/>
          <p:nvPr/>
        </p:nvSpPr>
        <p:spPr>
          <a:xfrm>
            <a:off x="731520" y="5532120"/>
            <a:ext cx="10728655" cy="749808"/>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5660136"/>
            <a:ext cx="2377440" cy="475488"/>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5. La Déconnexion du PP1</a:t>
            </a:r>
          </a:p>
        </p:txBody>
      </p:sp>
      <p:sp>
        <p:nvSpPr>
          <p:cNvPr id="23" name="TextBox 22"/>
          <p:cNvSpPr txBox="1"/>
          <p:nvPr/>
        </p:nvSpPr>
        <p:spPr>
          <a:xfrm>
            <a:off x="3474720" y="5605272"/>
            <a:ext cx="7772400" cy="594360"/>
          </a:xfrm>
          <a:prstGeom prst="rect">
            <a:avLst/>
          </a:prstGeom>
          <a:noFill/>
        </p:spPr>
        <p:txBody>
          <a:bodyPr wrap="square" lIns="0" rIns="0">
            <a:spAutoFit/>
          </a:bodyPr>
          <a:lstStyle/>
          <a:p>
            <a:pPr>
              <a:defRPr sz="1150">
                <a:solidFill>
                  <a:srgbClr val="2C3E50"/>
                </a:solidFill>
              </a:defRPr>
            </a:pPr>
            <a:r>
              <a:t>Inventer un planning qui n'a aucun rapport avec la stratégie de marketing rédigée dans le Livrable 1 (ex : avoir prévu du SEO et de l'emailing en PP1, mais ne mettre que TikTok sur le Gantt).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Quels Outils Choisir pour Concevoir votre Gantt &amp; Budget ?</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21/22</a:t>
            </a:r>
          </a:p>
        </p:txBody>
      </p:sp>
      <p:sp>
        <p:nvSpPr>
          <p:cNvPr id="8" name="Rounded Rectangle 7"/>
          <p:cNvSpPr/>
          <p:nvPr/>
        </p:nvSpPr>
        <p:spPr>
          <a:xfrm>
            <a:off x="731520" y="1371600"/>
            <a:ext cx="3474720" cy="47548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554480"/>
            <a:ext cx="310896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LE RECOMMANDÉ D-CLIC ⭐</a:t>
            </a:r>
          </a:p>
        </p:txBody>
      </p:sp>
      <p:sp>
        <p:nvSpPr>
          <p:cNvPr id="10" name="TextBox 9"/>
          <p:cNvSpPr txBox="1"/>
          <p:nvPr/>
        </p:nvSpPr>
        <p:spPr>
          <a:xfrm>
            <a:off x="914400" y="2057400"/>
            <a:ext cx="3108960" cy="3931920"/>
          </a:xfrm>
          <a:prstGeom prst="rect">
            <a:avLst/>
          </a:prstGeom>
          <a:noFill/>
        </p:spPr>
        <p:txBody>
          <a:bodyPr wrap="square" lIns="0" rIns="0">
            <a:spAutoFit/>
          </a:bodyPr>
          <a:lstStyle/>
          <a:p>
            <a:pPr algn="ctr">
              <a:defRPr sz="1600" b="1">
                <a:solidFill>
                  <a:srgbClr val="1A3A5C"/>
                </a:solidFill>
              </a:defRPr>
            </a:pPr>
            <a:r>
              <a:t>Google Sheets / Excel</a:t>
            </a:r>
          </a:p>
          <a:p>
            <a:pPr>
              <a:spcBef>
                <a:spcPts val="1000"/>
              </a:spcBef>
              <a:defRPr sz="1150">
                <a:solidFill>
                  <a:srgbClr val="2C3E50"/>
                </a:solidFill>
              </a:defRPr>
            </a:pPr>
            <a:r>
              <a:t>• Avantages : Idéal pour combiner le tableau WBS, les barres Gantt et le calcul automatique du budget.</a:t>
            </a:r>
          </a:p>
          <a:p>
            <a:pPr>
              <a:spcBef>
                <a:spcPts val="1000"/>
              </a:spcBef>
              <a:defRPr sz="1150">
                <a:solidFill>
                  <a:srgbClr val="2C3E50"/>
                </a:solidFill>
              </a:defRPr>
            </a:pPr>
            <a:r>
              <a:t>• Facilité : Utiliser la mise en forme conditionnelle ou colorier les cellules par semaine.</a:t>
            </a:r>
          </a:p>
          <a:p>
            <a:pPr>
              <a:spcBef>
                <a:spcPts val="1000"/>
              </a:spcBef>
              <a:defRPr sz="1150">
                <a:solidFill>
                  <a:srgbClr val="2C3E50"/>
                </a:solidFill>
              </a:defRPr>
            </a:pPr>
            <a:r>
              <a:t>• Export : Enregistrement facile en PDF propre pour le dépôt officiel sur Moodle.</a:t>
            </a:r>
          </a:p>
        </p:txBody>
      </p:sp>
      <p:sp>
        <p:nvSpPr>
          <p:cNvPr id="11" name="Rounded Rectangle 10"/>
          <p:cNvSpPr/>
          <p:nvPr/>
        </p:nvSpPr>
        <p:spPr>
          <a:xfrm>
            <a:off x="4449470" y="1371600"/>
            <a:ext cx="3474720" cy="4754880"/>
          </a:xfrm>
          <a:prstGeom prst="roundRect">
            <a:avLst/>
          </a:prstGeom>
          <a:solidFill>
            <a:srgbClr val="FFFFFF"/>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32350" y="1554480"/>
            <a:ext cx="3108960" cy="411480"/>
          </a:xfrm>
          <a:prstGeom prst="round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L'ALTERNATIVE TRÈS VISUELLE 🎨</a:t>
            </a:r>
          </a:p>
        </p:txBody>
      </p:sp>
      <p:sp>
        <p:nvSpPr>
          <p:cNvPr id="13" name="TextBox 12"/>
          <p:cNvSpPr txBox="1"/>
          <p:nvPr/>
        </p:nvSpPr>
        <p:spPr>
          <a:xfrm>
            <a:off x="4632350" y="2057400"/>
            <a:ext cx="3108960" cy="3931920"/>
          </a:xfrm>
          <a:prstGeom prst="rect">
            <a:avLst/>
          </a:prstGeom>
          <a:noFill/>
        </p:spPr>
        <p:txBody>
          <a:bodyPr wrap="square" lIns="0" rIns="0">
            <a:spAutoFit/>
          </a:bodyPr>
          <a:lstStyle/>
          <a:p>
            <a:pPr algn="ctr">
              <a:defRPr sz="1600" b="1">
                <a:solidFill>
                  <a:srgbClr val="1A3A5C"/>
                </a:solidFill>
              </a:defRPr>
            </a:pPr>
            <a:r>
              <a:t>Canva</a:t>
            </a:r>
          </a:p>
          <a:p>
            <a:pPr>
              <a:spcBef>
                <a:spcPts val="1000"/>
              </a:spcBef>
              <a:defRPr sz="1150">
                <a:solidFill>
                  <a:srgbClr val="2C3E50"/>
                </a:solidFill>
              </a:defRPr>
            </a:pPr>
            <a:r>
              <a:t>• Avantages : Magnifiques modèles prédéfinis de diagrammes de Gantt et de tableaux de bord.</a:t>
            </a:r>
          </a:p>
          <a:p>
            <a:pPr>
              <a:spcBef>
                <a:spcPts val="1000"/>
              </a:spcBef>
              <a:defRPr sz="1150">
                <a:solidFill>
                  <a:srgbClr val="2C3E50"/>
                </a:solidFill>
              </a:defRPr>
            </a:pPr>
            <a:r>
              <a:t>• Inconvénients : Moins adapté aux formules de calcul automatique du budget.</a:t>
            </a:r>
          </a:p>
          <a:p>
            <a:pPr>
              <a:spcBef>
                <a:spcPts val="1000"/>
              </a:spcBef>
              <a:defRPr sz="1150">
                <a:solidFill>
                  <a:srgbClr val="2C3E50"/>
                </a:solidFill>
              </a:defRPr>
            </a:pPr>
            <a:r>
              <a:t>• Conseil : Faire le budget sous Sheets et insérer le tableau sur Canva.</a:t>
            </a:r>
          </a:p>
        </p:txBody>
      </p:sp>
      <p:sp>
        <p:nvSpPr>
          <p:cNvPr id="14" name="Rounded Rectangle 13"/>
          <p:cNvSpPr/>
          <p:nvPr/>
        </p:nvSpPr>
        <p:spPr>
          <a:xfrm>
            <a:off x="8167420" y="1371600"/>
            <a:ext cx="3474720" cy="4754880"/>
          </a:xfrm>
          <a:prstGeom prst="roundRect">
            <a:avLst/>
          </a:prstGeom>
          <a:solidFill>
            <a:srgbClr val="FFFFFF"/>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50300" y="1554480"/>
            <a:ext cx="3108960" cy="411480"/>
          </a:xfrm>
          <a:prstGeom prst="round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POUR LES PROFILS TECH 💻</a:t>
            </a:r>
          </a:p>
        </p:txBody>
      </p:sp>
      <p:sp>
        <p:nvSpPr>
          <p:cNvPr id="16" name="TextBox 15"/>
          <p:cNvSpPr txBox="1"/>
          <p:nvPr/>
        </p:nvSpPr>
        <p:spPr>
          <a:xfrm>
            <a:off x="8350300" y="2057400"/>
            <a:ext cx="3108960" cy="3931920"/>
          </a:xfrm>
          <a:prstGeom prst="rect">
            <a:avLst/>
          </a:prstGeom>
          <a:noFill/>
        </p:spPr>
        <p:txBody>
          <a:bodyPr wrap="square" lIns="0" rIns="0">
            <a:spAutoFit/>
          </a:bodyPr>
          <a:lstStyle/>
          <a:p>
            <a:pPr algn="ctr">
              <a:defRPr sz="1600" b="1">
                <a:solidFill>
                  <a:srgbClr val="1A3A5C"/>
                </a:solidFill>
              </a:defRPr>
            </a:pPr>
            <a:r>
              <a:t>Notion / GanttProject</a:t>
            </a:r>
          </a:p>
          <a:p>
            <a:pPr>
              <a:spcBef>
                <a:spcPts val="1000"/>
              </a:spcBef>
              <a:defRPr sz="1150">
                <a:solidFill>
                  <a:srgbClr val="2C3E50"/>
                </a:solidFill>
              </a:defRPr>
            </a:pPr>
            <a:r>
              <a:t>• Avantages : Logiciels spécialisés de gestion de projet (GanttProject est gratuit et open-source).</a:t>
            </a:r>
          </a:p>
          <a:p>
            <a:pPr>
              <a:spcBef>
                <a:spcPts val="1000"/>
              </a:spcBef>
              <a:defRPr sz="1150">
                <a:solidFill>
                  <a:srgbClr val="2C3E50"/>
                </a:solidFill>
              </a:defRPr>
            </a:pPr>
            <a:r>
              <a:t>• Puissance : Gestion automatique des antériorités et calcul du chemin critique.</a:t>
            </a:r>
          </a:p>
          <a:p>
            <a:pPr>
              <a:spcBef>
                <a:spcPts val="1000"/>
              </a:spcBef>
              <a:defRPr sz="1150">
                <a:solidFill>
                  <a:srgbClr val="2C3E50"/>
                </a:solidFill>
              </a:defRPr>
            </a:pPr>
            <a:r>
              <a:t>• Export : Export en image haute résolution intégrable dans votre rapport.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8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274320"/>
          </a:xfrm>
          <a:prstGeom prst="rect">
            <a:avLst/>
          </a:prstGeom>
          <a:noFill/>
        </p:spPr>
        <p:txBody>
          <a:bodyPr wrap="square" lIns="0" tIns="0" rIns="0" bIns="0">
            <a:spAutoFit/>
          </a:bodyPr>
          <a:lstStyle/>
          <a:p>
            <a:pPr>
              <a:defRPr sz="1000" b="1">
                <a:solidFill>
                  <a:srgbClr val="E8912D"/>
                </a:solidFill>
                <a:latin typeface="Segoe UI"/>
              </a:defRPr>
            </a:pPr>
            <a:r>
              <a:t>D-CLIC • MARKETING NUMÉRIQUE • GESTION DE PROJET (C5 &amp; PP2)</a:t>
            </a:r>
          </a:p>
        </p:txBody>
      </p:sp>
      <p:sp>
        <p:nvSpPr>
          <p:cNvPr id="5" name="TextBox 4"/>
          <p:cNvSpPr txBox="1"/>
          <p:nvPr/>
        </p:nvSpPr>
        <p:spPr>
          <a:xfrm>
            <a:off x="731520" y="384048"/>
            <a:ext cx="8961120" cy="594360"/>
          </a:xfrm>
          <a:prstGeom prst="rect">
            <a:avLst/>
          </a:prstGeom>
          <a:noFill/>
        </p:spPr>
        <p:txBody>
          <a:bodyPr wrap="square" lIns="0" tIns="0" rIns="0" bIns="0">
            <a:spAutoFit/>
          </a:bodyPr>
          <a:lstStyle/>
          <a:p>
            <a:pPr>
              <a:defRPr sz="2100" b="1">
                <a:solidFill>
                  <a:srgbClr val="FFFFFF"/>
                </a:solidFill>
                <a:latin typeface="Segoe UI"/>
              </a:defRPr>
            </a:pPr>
            <a:r>
              <a:t>Plan d'Action, Q&amp;A &amp; Défi de la Semaine</a:t>
            </a:r>
          </a:p>
        </p:txBody>
      </p:sp>
      <p:pic>
        <p:nvPicPr>
          <p:cNvPr id="6" name="Picture 5" descr="Logo.jpg"/>
          <p:cNvPicPr>
            <a:picLocks noChangeAspect="1"/>
          </p:cNvPicPr>
          <p:nvPr/>
        </p:nvPicPr>
        <p:blipFill>
          <a:blip r:embed="rId2"/>
          <a:stretch>
            <a:fillRect/>
          </a:stretch>
        </p:blipFill>
        <p:spPr>
          <a:xfrm>
            <a:off x="10058400" y="164592"/>
            <a:ext cx="1463040" cy="492656"/>
          </a:xfrm>
          <a:prstGeom prst="rect">
            <a:avLst/>
          </a:prstGeom>
        </p:spPr>
      </p:pic>
      <p:sp>
        <p:nvSpPr>
          <p:cNvPr id="7" name="TextBox 6"/>
          <p:cNvSpPr txBox="1"/>
          <p:nvPr/>
        </p:nvSpPr>
        <p:spPr>
          <a:xfrm>
            <a:off x="731520" y="6473952"/>
            <a:ext cx="10728655" cy="292608"/>
          </a:xfrm>
          <a:prstGeom prst="rect">
            <a:avLst/>
          </a:prstGeom>
          <a:noFill/>
        </p:spPr>
        <p:txBody>
          <a:bodyPr wrap="square" lIns="0" tIns="0" rIns="0" bIns="0">
            <a:spAutoFit/>
          </a:bodyPr>
          <a:lstStyle/>
          <a:p>
            <a:pPr>
              <a:defRPr sz="950">
                <a:solidFill>
                  <a:srgbClr val="5A6A7A"/>
                </a:solidFill>
                <a:latin typeface="Segoe UI"/>
              </a:defRPr>
            </a:pPr>
            <a:r>
              <a:t>Formation D-CLIC (OIF) — Marketing Numérique | Tuteur : Jesse Adirigno OGOULA                       Diapositive 22/22</a:t>
            </a:r>
          </a:p>
        </p:txBody>
      </p:sp>
      <p:sp>
        <p:nvSpPr>
          <p:cNvPr id="8" name="Rounded Rectangle 7"/>
          <p:cNvSpPr/>
          <p:nvPr/>
        </p:nvSpPr>
        <p:spPr>
          <a:xfrm>
            <a:off x="731520" y="1371600"/>
            <a:ext cx="5120640" cy="4754880"/>
          </a:xfrm>
          <a:prstGeom prst="roundRect">
            <a:avLst/>
          </a:prstGeom>
          <a:solidFill>
            <a:srgbClr val="FFFFFF"/>
          </a:solidFill>
          <a:ln w="19050">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600" b="1">
                <a:solidFill>
                  <a:srgbClr val="1A3A5C"/>
                </a:solidFill>
              </a:defRPr>
            </a:pPr>
            <a:r>
              <a:t>🚀 Votre Feuille de Route de la Semaine</a:t>
            </a:r>
          </a:p>
          <a:p>
            <a:pPr>
              <a:spcBef>
                <a:spcPts val="600"/>
              </a:spcBef>
              <a:defRPr sz="1200" b="1">
                <a:solidFill>
                  <a:srgbClr val="0D9488"/>
                </a:solidFill>
              </a:defRPr>
            </a:pPr>
            <a:r>
              <a:t>• Étape 1 : Reprenez votre PP1 :</a:t>
            </a:r>
          </a:p>
          <a:p>
            <a:pPr>
              <a:defRPr sz="1100">
                <a:solidFill>
                  <a:srgbClr val="2C3E50"/>
                </a:solidFill>
              </a:defRPr>
            </a:pPr>
            <a:r>
              <a:t>   Identifiez vos 2 actions d'acquisition et vos 2 actions de rétention.</a:t>
            </a:r>
          </a:p>
          <a:p>
            <a:pPr>
              <a:spcBef>
                <a:spcPts val="600"/>
              </a:spcBef>
              <a:defRPr sz="1200" b="1">
                <a:solidFill>
                  <a:srgbClr val="0D9488"/>
                </a:solidFill>
              </a:defRPr>
            </a:pPr>
            <a:r>
              <a:t>• Étape 2 : Faites votre tableau WBS :</a:t>
            </a:r>
          </a:p>
          <a:p>
            <a:pPr>
              <a:defRPr sz="1100">
                <a:solidFill>
                  <a:srgbClr val="2C3E50"/>
                </a:solidFill>
              </a:defRPr>
            </a:pPr>
            <a:r>
              <a:t>   Découpez en 4 phases et listez 15 à 20 tâches avec verbes d'action.</a:t>
            </a:r>
          </a:p>
          <a:p>
            <a:pPr>
              <a:spcBef>
                <a:spcPts val="600"/>
              </a:spcBef>
              <a:defRPr sz="1200" b="1">
                <a:solidFill>
                  <a:srgbClr val="0D9488"/>
                </a:solidFill>
              </a:defRPr>
            </a:pPr>
            <a:r>
              <a:t>• Étape 3 : Tracez votre Gantt :</a:t>
            </a:r>
          </a:p>
          <a:p>
            <a:pPr>
              <a:defRPr sz="1100">
                <a:solidFill>
                  <a:srgbClr val="2C3E50"/>
                </a:solidFill>
              </a:defRPr>
            </a:pPr>
            <a:r>
              <a:t>   Fixez les dates, durées, antécédents et jalons de validation sur Sheets ou Canva.</a:t>
            </a:r>
          </a:p>
          <a:p>
            <a:pPr>
              <a:spcBef>
                <a:spcPts val="600"/>
              </a:spcBef>
              <a:defRPr sz="1200" b="1">
                <a:solidFill>
                  <a:srgbClr val="0D9488"/>
                </a:solidFill>
              </a:defRPr>
            </a:pPr>
            <a:r>
              <a:t>• Étape 4 : Chiffrez le budget par tâche :</a:t>
            </a:r>
          </a:p>
          <a:p>
            <a:pPr>
              <a:defRPr sz="1100">
                <a:solidFill>
                  <a:srgbClr val="2C3E50"/>
                </a:solidFill>
              </a:defRPr>
            </a:pPr>
            <a:r>
              <a:t>   Valorisez les profils RH, les achats média et prévoyez 10-15% d'imprévus.</a:t>
            </a:r>
          </a:p>
          <a:p>
            <a:pPr>
              <a:spcBef>
                <a:spcPts val="600"/>
              </a:spcBef>
              <a:defRPr sz="1200" b="1">
                <a:solidFill>
                  <a:srgbClr val="0D9488"/>
                </a:solidFill>
              </a:defRPr>
            </a:pPr>
            <a:r>
              <a:t>• Étape 5 : Déposez en entraînement :</a:t>
            </a:r>
          </a:p>
          <a:p>
            <a:pPr>
              <a:defRPr sz="1100">
                <a:solidFill>
                  <a:srgbClr val="2C3E50"/>
                </a:solidFill>
              </a:defRPr>
            </a:pPr>
            <a:r>
              <a:t>   Bénéficiez du retour de votre tuteur avant l'évaluation finale !</a:t>
            </a:r>
          </a:p>
        </p:txBody>
      </p:sp>
      <p:sp>
        <p:nvSpPr>
          <p:cNvPr id="9" name="Rounded Rectangle 8"/>
          <p:cNvSpPr/>
          <p:nvPr/>
        </p:nvSpPr>
        <p:spPr>
          <a:xfrm>
            <a:off x="6339535" y="1371600"/>
            <a:ext cx="5120640" cy="4754880"/>
          </a:xfrm>
          <a:prstGeom prst="roundRect">
            <a:avLst/>
          </a:prstGeom>
          <a:solidFill>
            <a:srgbClr val="1A3A5C"/>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320040" rIns="320040" tIns="274320"/>
          <a:lstStyle/>
          <a:p>
            <a:pPr algn="ctr">
              <a:defRPr sz="1800" b="1">
                <a:solidFill>
                  <a:srgbClr val="E8912D"/>
                </a:solidFill>
              </a:defRPr>
            </a:pPr>
            <a:r>
              <a:t>💬 Place aux Questions &amp; Échanges !</a:t>
            </a:r>
          </a:p>
          <a:p>
            <a:pPr>
              <a:spcBef>
                <a:spcPts val="1200"/>
              </a:spcBef>
              <a:defRPr sz="1300">
                <a:solidFill>
                  <a:srgbClr val="FFFFFF"/>
                </a:solidFill>
              </a:defRPr>
            </a:pPr>
            <a:r>
              <a:t>• Levez la main virtuelle ou posez votre question dans le chat.</a:t>
            </a:r>
            <a:br/>
            <a:br/>
            <a:r>
              <a:t>• Aucun doute ne doit rester sans réponse ce soir.</a:t>
            </a:r>
            <a:br/>
            <a:br/>
            <a:r>
              <a:t>• Vous avez toutes les clés pour faire un Livrable 2 brillant !</a:t>
            </a:r>
          </a:p>
        </p:txBody>
      </p:sp>
      <p:sp>
        <p:nvSpPr>
          <p:cNvPr id="10" name="Rounded Rectangle 9"/>
          <p:cNvSpPr/>
          <p:nvPr/>
        </p:nvSpPr>
        <p:spPr>
          <a:xfrm>
            <a:off x="6583680" y="4297680"/>
            <a:ext cx="4632350" cy="1463040"/>
          </a:xfrm>
          <a:prstGeom prst="roundRect">
            <a:avLst/>
          </a:prstGeom>
          <a:solidFill>
            <a:srgbClr val="244B73"/>
          </a:solidFill>
          <a:ln w="19050">
            <a:solidFill>
              <a:srgbClr val="E8912D"/>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200" b="1">
                <a:solidFill>
                  <a:srgbClr val="E8912D"/>
                </a:solidFill>
              </a:defRPr>
            </a:pPr>
            <a:r>
              <a:t>🌟 La devise D-CLIC du Chef de Projet :</a:t>
            </a:r>
          </a:p>
          <a:p>
            <a:pPr>
              <a:spcBef>
                <a:spcPts val="600"/>
              </a:spcBef>
              <a:defRPr sz="1250">
                <a:solidFill>
                  <a:srgbClr val="FFFFFF"/>
                </a:solidFill>
              </a:defRPr>
            </a:pPr>
            <a:r>
              <a:t>« Planifier ne garantit pas le succès absolu, mais ne pas planifier garantit l'échec. Vous avez le pouvoir de réussir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